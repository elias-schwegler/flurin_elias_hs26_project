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dea" id="{dfef35a2-a0de-5514-d4a9-21932c0e5531}">
          <p14:sldIdLst>
            <p14:sldId id="256"/>
          </p14:sldIdLst>
        </p14:section>
        <p14:section name="Data" id="{79bec941-f9c6-9329-3e9f-2fd235cc6dfd}">
          <p14:sldIdLst>
            <p14:sldId id="257"/>
          </p14:sldIdLst>
        </p14:section>
        <p14:section name="Approach" id="{7be47679-6677-1153-ce1b-97ef04659d06}">
          <p14:sldIdLst>
            <p14:sldId id="258"/>
          </p14:sldIdLst>
        </p14:section>
        <p14:section name="Next steps" id="{70366535-472b-a3b1-2b4b-1eeff29e9f60}">
          <p14:sldIdLst>
            <p14:sldId id="259"/>
          </p14:sldIdLst>
        </p14:section>
        <p14:section name="Appendix" id="{f427ceed-ea29-7168-787a-e46bf4a6dbb1}">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A2F"/>
                </a:solidFill>
                <a:latin typeface="+mj-lt"/>
              </a:defRPr>
            </a:pPr>
            <a:r>
              <a:rPr sz="1200" b="0" i="0" u="none" strike="noStrike">
                <a:solidFill>
                  <a:srgbClr val="1B2A2F"/>
                </a:solidFill>
                <a:latin typeface="+mj-lt"/>
              </a:rPr>
              <a:t>New PV plants per year, Canton Lucerne</a:t>
            </a:r>
          </a:p>
        </c:rich>
      </c:tx>
      <c:layout/>
      <c:overlay val="0"/>
    </c:title>
    <c:autoTitleDeleted val="0"/>
    <c:plotArea>
      <c:layout/>
      <c:barChart>
        <c:barDir val="bar"/>
        <c:grouping val="clustered"/>
        <c:varyColors val="0"/>
        <c:ser>
          <c:idx val="0"/>
          <c:order val="0"/>
          <c:tx>
            <c:strRef>
              <c:f>Sheet1!$B$1</c:f>
              <c:strCache>
                <c:ptCount val="1"/>
                <c:pt idx="0">
                  <c:v>New PV plants</c:v>
                </c:pt>
              </c:strCache>
            </c:strRef>
          </c:tx>
          <c:spPr>
            <a:solidFill>
              <a:srgbClr val="E0A030"/>
            </a:solidFill>
            <a:effectLst/>
          </c:spPr>
          <c:invertIfNegative val="0"/>
          <c:dLbls>
            <c:numFmt formatCode="#,##0" sourceLinked="0"/>
            <c:txPr>
              <a:bodyPr/>
              <a:lstStyle/>
              <a:p>
                <a:pPr>
                  <a:defRPr b="0" i="0" strike="noStrike" sz="1000" u="none">
                    <a:solidFill>
                      <a:srgbClr val="1B2A2F"/>
                    </a:solidFill>
                    <a:latin typeface="+mn-lt"/>
                  </a:defRPr>
                </a:pPr>
              </a:p>
            </c:txPr>
            <c:showLegendKey val="0"/>
            <c:showVal val="1"/>
            <c:showCatName val="0"/>
            <c:showSerName val="0"/>
            <c:showPercent val="0"/>
            <c:showBubbleSize val="0"/>
            <c:showLeaderLines val="0"/>
          </c:dLbls>
          <c:cat>
            <c:multiLvlStrRef>
              <c:f>Sheet1!$A$2:$A$11</c:f>
              <c:multiLvlStrCache>
                <c:ptCount val="10"/>
                <c:lvl>
                  <c:pt idx="0">
                    <c:v>2016</c:v>
                  </c:pt>
                  <c:pt idx="1">
                    <c:v>2017</c:v>
                  </c:pt>
                  <c:pt idx="2">
                    <c:v>2018</c:v>
                  </c:pt>
                  <c:pt idx="3">
                    <c:v>2019</c:v>
                  </c:pt>
                  <c:pt idx="4">
                    <c:v>2020</c:v>
                  </c:pt>
                  <c:pt idx="5">
                    <c:v>2021</c:v>
                  </c:pt>
                  <c:pt idx="6">
                    <c:v>2022</c:v>
                  </c:pt>
                  <c:pt idx="7">
                    <c:v>2023</c:v>
                  </c:pt>
                  <c:pt idx="8">
                    <c:v>2024</c:v>
                  </c:pt>
                  <c:pt idx="9">
                    <c:v>2025</c:v>
                  </c:pt>
                </c:lvl>
              </c:multiLvlStrCache>
            </c:multiLvlStrRef>
          </c:cat>
          <c:val>
            <c:numRef>
              <c:f>Sheet1!$B$2:$B$11</c:f>
              <c:numCache>
                <c:formatCode>General</c:formatCode>
                <c:ptCount val="10"/>
                <c:pt idx="0">
                  <c:v>532</c:v>
                </c:pt>
                <c:pt idx="1">
                  <c:v>619</c:v>
                </c:pt>
                <c:pt idx="2">
                  <c:v>601</c:v>
                </c:pt>
                <c:pt idx="3">
                  <c:v>720</c:v>
                </c:pt>
                <c:pt idx="4">
                  <c:v>995</c:v>
                </c:pt>
                <c:pt idx="5">
                  <c:v>1113</c:v>
                </c:pt>
                <c:pt idx="6">
                  <c:v>1647</c:v>
                </c:pt>
                <c:pt idx="7">
                  <c:v>3308</c:v>
                </c:pt>
                <c:pt idx="8">
                  <c:v>2917</c:v>
                </c:pt>
                <c:pt idx="9">
                  <c:v>1868</c:v>
                </c:pt>
              </c:numCache>
            </c:numRef>
          </c:val>
        </c:ser>
        <c:dLbls>
          <c:numFmt formatCode="#,##0" sourceLinked="0"/>
          <c:txPr>
            <a:bodyPr/>
            <a:lstStyle/>
            <a:p>
              <a:pPr>
                <a:defRPr b="0" i="0" strike="noStrike" sz="1000" u="none">
                  <a:solidFill>
                    <a:srgbClr val="1B2A2F"/>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1B2A2F"/>
                </a:solidFill>
                <a:latin typeface="+mn-lt"/>
              </a:defRPr>
            </a:pPr>
            <a:endParaRPr lang="en-US"/>
          </a:p>
        </c:txPr>
        <c:crossAx val="2094734552"/>
        <c:crosses val="autoZero"/>
        <c:auto val="1"/>
        <c:lblAlgn val="ctr"/>
        <c:noMultiLvlLbl val="1"/>
      </c:catAx>
      <c:valAx>
        <c:axId val="2094734552"/>
        <c:scaling>
          <c:orientation val="minMax"/>
          <c:max val="40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Dimitris, we are Elias and Flurin.
Topic: forecasting solar production in Canton Lucerne.
Why: Switzerland is adding solar quickly. Lucerne alone has about 17,000 PV plants with 647 MW in the federal register; we counted that ourselves from the open data.
Problem: solar output depends on weather and season, so grid operators need good forecasts (Swissgrid runs its own PV forecasting project).
Plan: a classical, explainable SARIMAX model with weather data as our core. If you agree, TimesFM as a benchmark.
SDG: 7.2, more renewables in the energy mix.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five sources are open, and we checked every one of them yesterday.
Target: Energy-Charts gives hourly Swiss solar generation. Values before 2018 look incomplete, so we would start in 2018.
Covariates: MeteoSwiss opened its station data in 2025. Station Luzern has radiation, temperature and sunshine.
SFOE plant register: every PV plant with power, start date, tilt and orientation. The chart is our own count: additions in Lucerne peaked in 2023. Recent years may still get late registrations.
Potential and the winter study only if we extend the scope.
Open question for you: forecast the national measured series, or model a Lucerne series from capacity and local radiation?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the work is data preparation, CRISP-DM steps 2 and 3, and it is the same for both models.
Baseline: seasonal naive, the same hour of the previous day. Every model has to beat that.
Core: SARIMAX, a seasonal ARIMA with weather as external regressors. Classical and explainable, so it fits the course.
Stretch: TimesFM is pretrained on many time series and forecasts without training. We would only use it as a benchmark with the same inputs and test windows, if that is okay given the guideline against foundation models.
Evaluation: MAE and RMSE on identical test weeks, plus compute time. That also feeds the sustainability reflection: is the bigger model worth its extra energy?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plan for the next weeks follows the deadlines in the course template.
The split is a proposal; the commit history will show both of us working on everything.
Then our questions. Most important for us: is TimesFM okay as a benchmark? And should we stay with one focused question or can we add the potential and winter-share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Only show it if asked where the numbers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B2A2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914400"/>
            <a:ext cx="11091672" cy="8686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1874520"/>
            <a:ext cx="11091672" cy="502920"/>
          </a:xfrm>
          <a:prstGeom prst="rect">
            <a:avLst/>
          </a:prstGeom>
          <a:noFill/>
          <a:ln/>
        </p:spPr>
        <p:txBody>
          <a:bodyPr wrap="square" rtlCol="0"/>
          <a:lstStyle>
            <a:lvl1pPr algn="l" indent="0" marL="0">
              <a:buNone/>
              <a:defRPr lang="en-US" sz="2200" dirty="0">
                <a:solidFill>
                  <a:schemeClr val="accent1"/>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rgbClr val="F6F8F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3"/>
                </a:solidFill>
              </a:rPr>
              <a:t>DSPRO1 HS26 · Team 1 · Elias Schwegler · Flurin Yenigün</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6A"/>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6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548640" y="457200"/>
            <a:ext cx="11091672"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DSPRO1 · HS26 · TEAM 1 · COACHING 1 · 9 OCT 2026</a:t>
            </a:r>
            <a:endParaRPr lang="en-US" sz="1200" dirty="0"/>
          </a:p>
        </p:txBody>
      </p:sp>
      <p:sp>
        <p:nvSpPr>
          <p:cNvPr id="3" name="Text 0"/>
          <p:cNvSpPr/>
          <p:nvPr>
            <p:ph idx="100" type="title" hasCustomPrompt="1"/>
          </p:nvPr>
        </p:nvSpPr>
        <p:spPr>
          <a:xfrm>
            <a:off x="548640" y="914400"/>
            <a:ext cx="11091672" cy="868680"/>
          </a:xfrm>
          <a:prstGeom prst="rect">
            <a:avLst/>
          </a:prstGeom>
          <a:noFill/>
          <a:ln/>
        </p:spPr>
        <p:txBody>
          <a:bodyPr wrap="square" lIns="0" tIns="0" rIns="0" bIns="0" rtlCol="0" anchor="t"/>
          <a:lstStyle/>
          <a:p>
            <a:pPr algn="l" indent="0" marL="0">
              <a:buNone/>
            </a:pPr>
            <a:r>
              <a:rPr lang="en-US" sz="4400" b="1" dirty="0">
                <a:solidFill>
                  <a:schemeClr val="bg1"/>
                </a:solidFill>
              </a:rPr>
              <a:t>Forecasting solar power in Canton Lucerne</a:t>
            </a:r>
            <a:endParaRPr lang="en-US" sz="4400" dirty="0"/>
          </a:p>
        </p:txBody>
      </p:sp>
      <p:sp>
        <p:nvSpPr>
          <p:cNvPr id="4" name="Text 0"/>
          <p:cNvSpPr/>
          <p:nvPr>
            <p:ph idx="101" type="body" hasCustomPrompt="1"/>
          </p:nvPr>
        </p:nvSpPr>
        <p:spPr>
          <a:xfrm>
            <a:off x="548640" y="1874520"/>
            <a:ext cx="11091672" cy="502920"/>
          </a:xfrm>
          <a:prstGeom prst="rect">
            <a:avLst/>
          </a:prstGeom>
          <a:noFill/>
          <a:ln/>
        </p:spPr>
        <p:txBody>
          <a:bodyPr wrap="square" lIns="0" tIns="0" rIns="0" bIns="0" rtlCol="0" anchor="t"/>
          <a:lstStyle/>
          <a:p>
            <a:pPr algn="l" indent="0" marL="0">
              <a:buNone/>
            </a:pPr>
            <a:r>
              <a:rPr lang="en-US" sz="2200" dirty="0">
                <a:solidFill>
                  <a:schemeClr val="accent1"/>
                </a:solidFill>
              </a:rPr>
              <a:t>Classical SARIMAX vs. a time-series foundation model</a:t>
            </a:r>
            <a:endParaRPr lang="en-US" sz="2200" dirty="0"/>
          </a:p>
        </p:txBody>
      </p:sp>
      <p:sp>
        <p:nvSpPr>
          <p:cNvPr id="5" name="Pitch"/>
          <p:cNvSpPr txBox="1"/>
          <p:nvPr/>
        </p:nvSpPr>
        <p:spPr>
          <a:xfrm>
            <a:off x="548640" y="2606040"/>
            <a:ext cx="10424160" cy="1143000"/>
          </a:xfrm>
          <a:prstGeom prst="rect">
            <a:avLst/>
          </a:prstGeom>
          <a:noFill/>
          <a:ln/>
        </p:spPr>
        <p:txBody>
          <a:bodyPr wrap="square" lIns="0" tIns="0" rIns="0" bIns="0" rtlCol="0" anchor="t"/>
          <a:lstStyle/>
          <a:p>
            <a:pPr indent="0" marL="0">
              <a:lnSpc>
                <a:spcPct val="115000"/>
              </a:lnSpc>
              <a:buNone/>
            </a:pPr>
            <a:r>
              <a:rPr lang="en-US" sz="1600" dirty="0">
                <a:solidFill>
                  <a:schemeClr val="accent4"/>
                </a:solidFill>
              </a:rPr>
              <a:t>Switzerland is expanding solar power fast, but solar output swings with weather and season, which makes the grid harder to plan. We forecast hourly solar production with an explainable SARIMAX model on open MeteoSwiss weather data and test whether the time-series foundation model TimesFM can beat it.</a:t>
            </a:r>
            <a:endParaRPr lang="en-US" sz="1600" dirty="0"/>
          </a:p>
        </p:txBody>
      </p:sp>
      <p:sp>
        <p:nvSpPr>
          <p:cNvPr id="6" name="Stat card 1"/>
          <p:cNvSpPr/>
          <p:nvPr/>
        </p:nvSpPr>
        <p:spPr>
          <a:xfrm>
            <a:off x="548640" y="4160520"/>
            <a:ext cx="3511296" cy="1325880"/>
          </a:xfrm>
          <a:prstGeom prst="roundRect">
            <a:avLst>
              <a:gd name="adj" fmla="val 8276"/>
            </a:avLst>
          </a:prstGeom>
          <a:solidFill>
            <a:schemeClr val="tx2"/>
          </a:solidFill>
          <a:ln w="12700">
            <a:solidFill>
              <a:schemeClr val="tx2"/>
            </a:solidFill>
            <a:prstDash val="solid"/>
          </a:ln>
        </p:spPr>
      </p:sp>
      <p:sp>
        <p:nvSpPr>
          <p:cNvPr id="7" name="Stat 1"/>
          <p:cNvSpPr txBox="1"/>
          <p:nvPr/>
        </p:nvSpPr>
        <p:spPr>
          <a:xfrm>
            <a:off x="822960" y="4297680"/>
            <a:ext cx="2962656" cy="594360"/>
          </a:xfrm>
          <a:prstGeom prst="rect">
            <a:avLst/>
          </a:prstGeom>
          <a:noFill/>
          <a:ln/>
        </p:spPr>
        <p:txBody>
          <a:bodyPr wrap="square" lIns="0" tIns="0" rIns="0" bIns="0" rtlCol="0" anchor="ctr"/>
          <a:lstStyle/>
          <a:p>
            <a:pPr indent="0" marL="0">
              <a:buNone/>
            </a:pPr>
            <a:r>
              <a:rPr lang="en-US" sz="3600" b="1" dirty="0">
                <a:solidFill>
                  <a:schemeClr val="accent1"/>
                </a:solidFill>
                <a:latin typeface="+mj-lt" pitchFamily="34" charset="0"/>
                <a:ea typeface="+mj-lt" pitchFamily="34" charset="-122"/>
                <a:cs typeface="+mj-lt" pitchFamily="34" charset="-120"/>
              </a:rPr>
              <a:t>17,205</a:t>
            </a:r>
            <a:endParaRPr lang="en-US" sz="3600" dirty="0"/>
          </a:p>
        </p:txBody>
      </p:sp>
      <p:sp>
        <p:nvSpPr>
          <p:cNvPr id="8" name="Stat label 1"/>
          <p:cNvSpPr txBox="1"/>
          <p:nvPr/>
        </p:nvSpPr>
        <p:spPr>
          <a:xfrm>
            <a:off x="822960" y="4937760"/>
            <a:ext cx="2962656" cy="411480"/>
          </a:xfrm>
          <a:prstGeom prst="rect">
            <a:avLst/>
          </a:prstGeom>
          <a:noFill/>
          <a:ln/>
        </p:spPr>
        <p:txBody>
          <a:bodyPr wrap="square" lIns="0" tIns="0" rIns="0" bIns="0" rtlCol="0" anchor="t"/>
          <a:lstStyle/>
          <a:p>
            <a:pPr indent="0" marL="0">
              <a:buNone/>
            </a:pPr>
            <a:r>
              <a:rPr lang="en-US" sz="1300" dirty="0">
                <a:solidFill>
                  <a:schemeClr val="accent4"/>
                </a:solidFill>
              </a:rPr>
              <a:t>PV plants in operation, Lucerne [1]</a:t>
            </a:r>
            <a:endParaRPr lang="en-US" sz="1300" dirty="0"/>
          </a:p>
        </p:txBody>
      </p:sp>
      <p:sp>
        <p:nvSpPr>
          <p:cNvPr id="9" name="Stat card 2"/>
          <p:cNvSpPr/>
          <p:nvPr/>
        </p:nvSpPr>
        <p:spPr>
          <a:xfrm>
            <a:off x="4338828" y="4160520"/>
            <a:ext cx="3511296" cy="1325880"/>
          </a:xfrm>
          <a:prstGeom prst="roundRect">
            <a:avLst>
              <a:gd name="adj" fmla="val 8276"/>
            </a:avLst>
          </a:prstGeom>
          <a:solidFill>
            <a:schemeClr val="tx2"/>
          </a:solidFill>
          <a:ln w="12700">
            <a:solidFill>
              <a:schemeClr val="tx2"/>
            </a:solidFill>
            <a:prstDash val="solid"/>
          </a:ln>
        </p:spPr>
      </p:sp>
      <p:sp>
        <p:nvSpPr>
          <p:cNvPr id="10" name="Stat 2"/>
          <p:cNvSpPr txBox="1"/>
          <p:nvPr/>
        </p:nvSpPr>
        <p:spPr>
          <a:xfrm>
            <a:off x="4613148" y="4297680"/>
            <a:ext cx="2962656" cy="594360"/>
          </a:xfrm>
          <a:prstGeom prst="rect">
            <a:avLst/>
          </a:prstGeom>
          <a:noFill/>
          <a:ln/>
        </p:spPr>
        <p:txBody>
          <a:bodyPr wrap="square" lIns="0" tIns="0" rIns="0" bIns="0" rtlCol="0" anchor="ctr"/>
          <a:lstStyle/>
          <a:p>
            <a:pPr indent="0" marL="0">
              <a:buNone/>
            </a:pPr>
            <a:r>
              <a:rPr lang="en-US" sz="3600" b="1" dirty="0">
                <a:solidFill>
                  <a:schemeClr val="accent1"/>
                </a:solidFill>
                <a:latin typeface="+mj-lt" pitchFamily="34" charset="0"/>
                <a:ea typeface="+mj-lt" pitchFamily="34" charset="-122"/>
                <a:cs typeface="+mj-lt" pitchFamily="34" charset="-120"/>
              </a:rPr>
              <a:t>647 MW</a:t>
            </a:r>
            <a:endParaRPr lang="en-US" sz="3600" dirty="0"/>
          </a:p>
        </p:txBody>
      </p:sp>
      <p:sp>
        <p:nvSpPr>
          <p:cNvPr id="11" name="Stat label 2"/>
          <p:cNvSpPr txBox="1"/>
          <p:nvPr/>
        </p:nvSpPr>
        <p:spPr>
          <a:xfrm>
            <a:off x="4613148" y="4937760"/>
            <a:ext cx="2962656" cy="411480"/>
          </a:xfrm>
          <a:prstGeom prst="rect">
            <a:avLst/>
          </a:prstGeom>
          <a:noFill/>
          <a:ln/>
        </p:spPr>
        <p:txBody>
          <a:bodyPr wrap="square" lIns="0" tIns="0" rIns="0" bIns="0" rtlCol="0" anchor="t"/>
          <a:lstStyle/>
          <a:p>
            <a:pPr indent="0" marL="0">
              <a:buNone/>
            </a:pPr>
            <a:r>
              <a:rPr lang="en-US" sz="1300" dirty="0">
                <a:solidFill>
                  <a:schemeClr val="accent4"/>
                </a:solidFill>
              </a:rPr>
              <a:t>installed PV capacity, Lucerne [1]</a:t>
            </a:r>
            <a:endParaRPr lang="en-US" sz="1300" dirty="0"/>
          </a:p>
        </p:txBody>
      </p:sp>
      <p:sp>
        <p:nvSpPr>
          <p:cNvPr id="12" name="Stat card 3"/>
          <p:cNvSpPr/>
          <p:nvPr/>
        </p:nvSpPr>
        <p:spPr>
          <a:xfrm>
            <a:off x="8129016" y="4160520"/>
            <a:ext cx="3511296" cy="1325880"/>
          </a:xfrm>
          <a:prstGeom prst="roundRect">
            <a:avLst>
              <a:gd name="adj" fmla="val 8276"/>
            </a:avLst>
          </a:prstGeom>
          <a:solidFill>
            <a:schemeClr val="tx2"/>
          </a:solidFill>
          <a:ln w="12700">
            <a:solidFill>
              <a:schemeClr val="tx2"/>
            </a:solidFill>
            <a:prstDash val="solid"/>
          </a:ln>
        </p:spPr>
      </p:sp>
      <p:sp>
        <p:nvSpPr>
          <p:cNvPr id="13" name="Stat 3"/>
          <p:cNvSpPr txBox="1"/>
          <p:nvPr/>
        </p:nvSpPr>
        <p:spPr>
          <a:xfrm>
            <a:off x="8403336" y="4297680"/>
            <a:ext cx="2962656" cy="594360"/>
          </a:xfrm>
          <a:prstGeom prst="rect">
            <a:avLst/>
          </a:prstGeom>
          <a:noFill/>
          <a:ln/>
        </p:spPr>
        <p:txBody>
          <a:bodyPr wrap="square" lIns="0" tIns="0" rIns="0" bIns="0" rtlCol="0" anchor="ctr"/>
          <a:lstStyle/>
          <a:p>
            <a:pPr indent="0" marL="0">
              <a:buNone/>
            </a:pPr>
            <a:r>
              <a:rPr lang="en-US" sz="3600" b="1" dirty="0">
                <a:solidFill>
                  <a:schemeClr val="accent1"/>
                </a:solidFill>
                <a:latin typeface="+mj-lt" pitchFamily="34" charset="0"/>
                <a:ea typeface="+mj-lt" pitchFamily="34" charset="-122"/>
                <a:cs typeface="+mj-lt" pitchFamily="34" charset="-120"/>
              </a:rPr>
              <a:t>SDG 7.2</a:t>
            </a:r>
            <a:endParaRPr lang="en-US" sz="3600" dirty="0"/>
          </a:p>
        </p:txBody>
      </p:sp>
      <p:sp>
        <p:nvSpPr>
          <p:cNvPr id="14" name="Stat label 3"/>
          <p:cNvSpPr txBox="1"/>
          <p:nvPr/>
        </p:nvSpPr>
        <p:spPr>
          <a:xfrm>
            <a:off x="8403336" y="4937760"/>
            <a:ext cx="2962656" cy="411480"/>
          </a:xfrm>
          <a:prstGeom prst="rect">
            <a:avLst/>
          </a:prstGeom>
          <a:noFill/>
          <a:ln/>
        </p:spPr>
        <p:txBody>
          <a:bodyPr wrap="square" lIns="0" tIns="0" rIns="0" bIns="0" rtlCol="0" anchor="t"/>
          <a:lstStyle/>
          <a:p>
            <a:pPr indent="0" marL="0">
              <a:buNone/>
            </a:pPr>
            <a:r>
              <a:rPr lang="en-US" sz="1300" dirty="0">
                <a:solidFill>
                  <a:schemeClr val="accent4"/>
                </a:solidFill>
              </a:rPr>
              <a:t>raise the share of renewable energy [11]</a:t>
            </a:r>
            <a:endParaRPr lang="en-US" sz="1300" dirty="0"/>
          </a:p>
        </p:txBody>
      </p:sp>
      <p:sp>
        <p:nvSpPr>
          <p:cNvPr id="15" name="Team"/>
          <p:cNvSpPr txBox="1"/>
          <p:nvPr/>
        </p:nvSpPr>
        <p:spPr>
          <a:xfrm>
            <a:off x="548640" y="6263640"/>
            <a:ext cx="5943600" cy="274320"/>
          </a:xfrm>
          <a:prstGeom prst="rect">
            <a:avLst/>
          </a:prstGeom>
          <a:noFill/>
          <a:ln/>
        </p:spPr>
        <p:txBody>
          <a:bodyPr wrap="square" lIns="0" tIns="0" rIns="0" bIns="0" rtlCol="0" anchor="ctr"/>
          <a:lstStyle/>
          <a:p>
            <a:pPr indent="0" marL="0">
              <a:buNone/>
            </a:pPr>
            <a:r>
              <a:rPr lang="en-US" sz="1100" dirty="0">
                <a:solidFill>
                  <a:schemeClr val="accent4"/>
                </a:solidFill>
              </a:rPr>
              <a:t>Elias Schwegler · Flurin Yenigün · Coach: Dr. Dimitris Mousadakos</a:t>
            </a:r>
            <a:endParaRPr lang="en-US" sz="1100" dirty="0"/>
          </a:p>
        </p:txBody>
      </p:sp>
      <p:sp>
        <p:nvSpPr>
          <p:cNvPr id="16" name="Sources"/>
          <p:cNvSpPr txBox="1"/>
          <p:nvPr/>
        </p:nvSpPr>
        <p:spPr>
          <a:xfrm>
            <a:off x="6492240" y="6263640"/>
            <a:ext cx="5148072" cy="274320"/>
          </a:xfrm>
          <a:prstGeom prst="rect">
            <a:avLst/>
          </a:prstGeom>
          <a:noFill/>
          <a:ln/>
        </p:spPr>
        <p:txBody>
          <a:bodyPr wrap="square" lIns="0" tIns="0" rIns="0" bIns="0" rtlCol="0" anchor="ctr"/>
          <a:lstStyle/>
          <a:p>
            <a:pPr algn="r" indent="0" marL="0">
              <a:buNone/>
            </a:pPr>
            <a:r>
              <a:rPr lang="en-US" sz="1000" dirty="0">
                <a:solidFill>
                  <a:schemeClr val="accent4"/>
                </a:solidFill>
              </a:rPr>
              <a:t>Sources: [1] SFOE plant register (09/2026), own count · [11] UN · [12] Swissgrid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Open data we can build on</a:t>
            </a:r>
            <a:endParaRPr lang="en-US" sz="3600" dirty="0"/>
          </a:p>
        </p:txBody>
      </p:sp>
      <p:graphicFrame>
        <p:nvGraphicFramePr>
          <p:cNvPr id="3" name="Data sources table"/>
          <p:cNvGraphicFramePr>
            <a:graphicFrameLocks noGrp="1"/>
          </p:cNvGraphicFramePr>
          <p:nvPr>
            <p:extLst>
              <p:ext uri="{D42A27DB-BD31-4B8C-83A1-F6EECF244321}">
                <p14:modId xmlns:p14="http://schemas.microsoft.com/office/powerpoint/2010/main" val="1579011935"/>
              </p:ext>
            </p:extLst>
          </p:nvPr>
        </p:nvGraphicFramePr>
        <p:xfrm>
          <a:off x="548640" y="1325880"/>
          <a:ext cx="7360920" cy="914400"/>
        </p:xfrm>
        <a:graphic>
          <a:graphicData uri="http://schemas.openxmlformats.org/drawingml/2006/table">
            <a:tbl>
              <a:tblPr/>
              <a:tblGrid>
                <a:gridCol w="2057400"/>
                <a:gridCol w="3108960"/>
                <a:gridCol w="2194560"/>
              </a:tblGrid>
              <a:tr h="411480">
                <a:tc>
                  <a:txBody>
                    <a:bodyPr/>
                    <a:lstStyle/>
                    <a:p>
                      <a:pPr indent="0" marL="0">
                        <a:buNone/>
                      </a:pPr>
                      <a:r>
                        <a:rPr lang="en-US" sz="1200" b="1" dirty="0">
                          <a:solidFill>
                            <a:schemeClr val="bg1"/>
                          </a:solidFill>
                        </a:rPr>
                        <a:t>Source</a:t>
                      </a:r>
                      <a:endParaRPr lang="en-US" sz="1200" dirty="0"/>
                    </a:p>
                  </a:txBody>
                  <a:tcPr marL="73152" marR="73152" marT="73152" marB="73152" anchor="ctr">
                    <a:lnL w="9525" cap="flat" cmpd="sng" algn="ctr">
                      <a:solidFill>
                        <a:srgbClr val="D5DCDA"/>
                      </a:solidFill>
                      <a:prstDash val="solid"/>
                      <a:round/>
                      <a:headEnd type="none" w="med" len="med"/>
                      <a:tailEnd type="none" w="med" len="med"/>
                    </a:lnL>
                    <a:lnR w="9525" cap="flat" cmpd="sng" algn="ctr">
                      <a:solidFill>
                        <a:srgbClr val="D5DCDA"/>
                      </a:solidFill>
                      <a:prstDash val="solid"/>
                      <a:round/>
                      <a:headEnd type="none" w="med" len="med"/>
                      <a:tailEnd type="none" w="med" len="med"/>
                    </a:lnR>
                    <a:lnT w="9525" cap="flat" cmpd="sng" algn="ctr">
                      <a:solidFill>
                        <a:srgbClr val="D5DCDA"/>
                      </a:solidFill>
                      <a:prstDash val="solid"/>
                      <a:round/>
                      <a:headEnd type="none" w="med" len="med"/>
                      <a:tailEnd type="none" w="med" len="med"/>
                    </a:lnT>
                    <a:lnB w="9525" cap="flat" cmpd="sng" algn="ctr">
                      <a:solidFill>
                        <a:srgbClr val="D5DCDA"/>
                      </a:solidFill>
                      <a:prstDash val="solid"/>
                      <a:round/>
                      <a:headEnd type="none" w="med" len="med"/>
                      <a:tailEnd type="none" w="med" len="med"/>
                    </a:lnB>
                    <a:solidFill>
                      <a:srgbClr val="1B2A2F"/>
                    </a:solidFill>
                  </a:tcPr>
                </a:tc>
                <a:tc>
                  <a:txBody>
                    <a:bodyPr/>
                    <a:lstStyle/>
                    <a:p>
                      <a:pPr indent="0" marL="0">
                        <a:buNone/>
                      </a:pPr>
                      <a:r>
                        <a:rPr lang="en-US" sz="1200" b="1" dirty="0">
                          <a:solidFill>
                            <a:schemeClr val="bg1"/>
                          </a:solidFill>
                        </a:rPr>
                        <a:t>What it contains</a:t>
                      </a:r>
                      <a:endParaRPr lang="en-US" sz="1200" dirty="0"/>
                    </a:p>
                  </a:txBody>
                  <a:tcPr marL="73152" marR="73152" marT="73152" marB="73152" anchor="ctr">
                    <a:lnL w="9525" cap="flat" cmpd="sng" algn="ctr">
                      <a:solidFill>
                        <a:srgbClr val="D5DCDA"/>
                      </a:solidFill>
                      <a:prstDash val="solid"/>
                      <a:round/>
                      <a:headEnd type="none" w="med" len="med"/>
                      <a:tailEnd type="none" w="med" len="med"/>
                    </a:lnL>
                    <a:lnR w="9525" cap="flat" cmpd="sng" algn="ctr">
                      <a:solidFill>
                        <a:srgbClr val="D5DCDA"/>
                      </a:solidFill>
                      <a:prstDash val="solid"/>
                      <a:round/>
                      <a:headEnd type="none" w="med" len="med"/>
                      <a:tailEnd type="none" w="med" len="med"/>
                    </a:lnR>
                    <a:lnT w="9525" cap="flat" cmpd="sng" algn="ctr">
                      <a:solidFill>
                        <a:srgbClr val="D5DCDA"/>
                      </a:solidFill>
                      <a:prstDash val="solid"/>
                      <a:round/>
                      <a:headEnd type="none" w="med" len="med"/>
                      <a:tailEnd type="none" w="med" len="med"/>
                    </a:lnT>
                    <a:lnB w="9525" cap="flat" cmpd="sng" algn="ctr">
                      <a:solidFill>
                        <a:srgbClr val="D5DCDA"/>
                      </a:solidFill>
                      <a:prstDash val="solid"/>
                      <a:round/>
                      <a:headEnd type="none" w="med" len="med"/>
                      <a:tailEnd type="none" w="med" len="med"/>
                    </a:lnB>
                    <a:solidFill>
                      <a:srgbClr val="1B2A2F"/>
                    </a:solidFill>
                  </a:tcPr>
                </a:tc>
                <a:tc>
                  <a:txBody>
                    <a:bodyPr/>
                    <a:lstStyle/>
                    <a:p>
                      <a:pPr indent="0" marL="0">
                        <a:buNone/>
                      </a:pPr>
                      <a:r>
                        <a:rPr lang="en-US" sz="1200" b="1" dirty="0">
                          <a:solidFill>
                            <a:schemeClr val="bg1"/>
                          </a:solidFill>
                        </a:rPr>
                        <a:t>Role in the project</a:t>
                      </a:r>
                      <a:endParaRPr lang="en-US" sz="1200" dirty="0"/>
                    </a:p>
                  </a:txBody>
                  <a:tcPr marL="73152" marR="73152" marT="73152" marB="73152" anchor="ctr">
                    <a:lnL w="9525" cap="flat" cmpd="sng" algn="ctr">
                      <a:solidFill>
                        <a:srgbClr val="D5DCDA"/>
                      </a:solidFill>
                      <a:prstDash val="solid"/>
                      <a:round/>
                      <a:headEnd type="none" w="med" len="med"/>
                      <a:tailEnd type="none" w="med" len="med"/>
                    </a:lnL>
                    <a:lnR w="9525" cap="flat" cmpd="sng" algn="ctr">
                      <a:solidFill>
                        <a:srgbClr val="D5DCDA"/>
                      </a:solidFill>
                      <a:prstDash val="solid"/>
                      <a:round/>
                      <a:headEnd type="none" w="med" len="med"/>
                      <a:tailEnd type="none" w="med" len="med"/>
                    </a:lnR>
                    <a:lnT w="9525" cap="flat" cmpd="sng" algn="ctr">
                      <a:solidFill>
                        <a:srgbClr val="D5DCDA"/>
                      </a:solidFill>
                      <a:prstDash val="solid"/>
                      <a:round/>
                      <a:headEnd type="none" w="med" len="med"/>
                      <a:tailEnd type="none" w="med" len="med"/>
                    </a:lnT>
                    <a:lnB w="9525" cap="flat" cmpd="sng" algn="ctr">
                      <a:solidFill>
                        <a:srgbClr val="D5DCDA"/>
                      </a:solidFill>
                      <a:prstDash val="solid"/>
                      <a:round/>
                      <a:headEnd type="none" w="med" len="med"/>
                      <a:tailEnd type="none" w="med" len="med"/>
                    </a:lnB>
                    <a:solidFill>
                      <a:srgbClr val="1B2A2F"/>
                    </a:solidFill>
                  </a:tcPr>
                </a:tc>
              </a:tr>
              <a:tr h="566928">
                <a:tc>
                  <a:txBody>
                    <a:bodyPr/>
                    <a:lstStyle/>
                    <a:p>
                      <a:pPr indent="0" marL="0">
                        <a:buNone/>
                      </a:pPr>
                      <a:r>
                        <a:rPr lang="en-US" sz="1200" b="1" dirty="0">
                          <a:solidFill>
                            <a:schemeClr val="tx1"/>
                          </a:solidFill>
                        </a:rPr>
                        <a:t>[5] Energy-Charts (Fraunhofer ISE)</a:t>
                      </a:r>
                      <a:endParaRPr lang="en-US" sz="1200" dirty="0"/>
                    </a:p>
                  </a:txBody>
                  <a:tcPr marL="73152" marR="73152" marT="73152" marB="73152" anchor="ctr">
                    <a:lnL w="9525" cap="flat" cmpd="sng" algn="ctr">
                      <a:solidFill>
                        <a:srgbClr val="D5DCDA"/>
                      </a:solidFill>
                      <a:prstDash val="solid"/>
                      <a:round/>
                      <a:headEnd type="none" w="med" len="med"/>
                      <a:tailEnd type="none" w="med" len="med"/>
                    </a:lnL>
                    <a:lnR w="9525" cap="flat" cmpd="sng" algn="ctr">
                      <a:solidFill>
                        <a:srgbClr val="D5DCDA"/>
                      </a:solidFill>
                      <a:prstDash val="solid"/>
                      <a:round/>
                      <a:headEnd type="none" w="med" len="med"/>
                      <a:tailEnd type="none" w="med" len="med"/>
                    </a:lnR>
                    <a:lnT w="9525" cap="flat" cmpd="sng" algn="ctr">
                      <a:solidFill>
                        <a:srgbClr val="D5DCDA"/>
                      </a:solidFill>
                      <a:prstDash val="solid"/>
                      <a:round/>
                      <a:headEnd type="none" w="med" len="med"/>
                      <a:tailEnd type="none" w="med" len="med"/>
                    </a:lnT>
                    <a:lnB w="9525" cap="flat" cmpd="sng" algn="ctr">
                      <a:solidFill>
                        <a:srgbClr val="D5DCDA"/>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Hourly Swiss solar generation; usable from 2018</a:t>
                      </a:r>
                      <a:endParaRPr lang="en-US" sz="1200" dirty="0"/>
                    </a:p>
                  </a:txBody>
                  <a:tcPr marL="73152" marR="73152" marT="73152" marB="73152" anchor="ctr">
                    <a:lnL w="9525" cap="flat" cmpd="sng" algn="ctr">
                      <a:solidFill>
                        <a:srgbClr val="D5DCDA"/>
                      </a:solidFill>
                      <a:prstDash val="solid"/>
                      <a:round/>
                      <a:headEnd type="none" w="med" len="med"/>
                      <a:tailEnd type="none" w="med" len="med"/>
                    </a:lnL>
                    <a:lnR w="9525" cap="flat" cmpd="sng" algn="ctr">
                      <a:solidFill>
                        <a:srgbClr val="D5DCDA"/>
                      </a:solidFill>
                      <a:prstDash val="solid"/>
                      <a:round/>
                      <a:headEnd type="none" w="med" len="med"/>
                      <a:tailEnd type="none" w="med" len="med"/>
                    </a:lnR>
                    <a:lnT w="9525" cap="flat" cmpd="sng" algn="ctr">
                      <a:solidFill>
                        <a:srgbClr val="D5DCDA"/>
                      </a:solidFill>
                      <a:prstDash val="solid"/>
                      <a:round/>
                      <a:headEnd type="none" w="med" len="med"/>
                      <a:tailEnd type="none" w="med" len="med"/>
                    </a:lnT>
                    <a:lnB w="9525" cap="flat" cmpd="sng" algn="ctr">
                      <a:solidFill>
                        <a:srgbClr val="D5DCDA"/>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Forecast target</a:t>
                      </a:r>
                      <a:endParaRPr lang="en-US" sz="1200" dirty="0"/>
                    </a:p>
                  </a:txBody>
                  <a:tcPr marL="73152" marR="73152" marT="73152" marB="73152" anchor="ctr">
                    <a:lnL w="9525" cap="flat" cmpd="sng" algn="ctr">
                      <a:solidFill>
                        <a:srgbClr val="D5DCDA"/>
                      </a:solidFill>
                      <a:prstDash val="solid"/>
                      <a:round/>
                      <a:headEnd type="none" w="med" len="med"/>
                      <a:tailEnd type="none" w="med" len="med"/>
                    </a:lnL>
                    <a:lnR w="9525" cap="flat" cmpd="sng" algn="ctr">
                      <a:solidFill>
                        <a:srgbClr val="D5DCDA"/>
                      </a:solidFill>
                      <a:prstDash val="solid"/>
                      <a:round/>
                      <a:headEnd type="none" w="med" len="med"/>
                      <a:tailEnd type="none" w="med" len="med"/>
                    </a:lnR>
                    <a:lnT w="9525" cap="flat" cmpd="sng" algn="ctr">
                      <a:solidFill>
                        <a:srgbClr val="D5DCDA"/>
                      </a:solidFill>
                      <a:prstDash val="solid"/>
                      <a:round/>
                      <a:headEnd type="none" w="med" len="med"/>
                      <a:tailEnd type="none" w="med" len="med"/>
                    </a:lnT>
                    <a:lnB w="9525" cap="flat" cmpd="sng" algn="ctr">
                      <a:solidFill>
                        <a:srgbClr val="D5DCDA"/>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chemeClr val="tx1"/>
                          </a:solidFill>
                        </a:rPr>
                        <a:t>[4] MeteoSwiss Open Data, station Luzern</a:t>
                      </a:r>
                      <a:endParaRPr lang="en-US" sz="1200" dirty="0"/>
                    </a:p>
                  </a:txBody>
                  <a:tcPr marL="73152" marR="73152" marT="73152" marB="73152" anchor="ctr">
                    <a:lnL w="9525" cap="flat" cmpd="sng" algn="ctr">
                      <a:solidFill>
                        <a:srgbClr val="D5DCDA"/>
                      </a:solidFill>
                      <a:prstDash val="solid"/>
                      <a:round/>
                      <a:headEnd type="none" w="med" len="med"/>
                      <a:tailEnd type="none" w="med" len="med"/>
                    </a:lnL>
                    <a:lnR w="9525" cap="flat" cmpd="sng" algn="ctr">
                      <a:solidFill>
                        <a:srgbClr val="D5DCDA"/>
                      </a:solidFill>
                      <a:prstDash val="solid"/>
                      <a:round/>
                      <a:headEnd type="none" w="med" len="med"/>
                      <a:tailEnd type="none" w="med" len="med"/>
                    </a:lnR>
                    <a:lnT w="9525" cap="flat" cmpd="sng" algn="ctr">
                      <a:solidFill>
                        <a:srgbClr val="D5DCDA"/>
                      </a:solidFill>
                      <a:prstDash val="solid"/>
                      <a:round/>
                      <a:headEnd type="none" w="med" len="med"/>
                      <a:tailEnd type="none" w="med" len="med"/>
                    </a:lnT>
                    <a:lnB w="9525" cap="flat" cmpd="sng" algn="ctr">
                      <a:solidFill>
                        <a:srgbClr val="D5DCDA"/>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Radiation, temperature, sunshine; 10-min and hourly</a:t>
                      </a:r>
                      <a:endParaRPr lang="en-US" sz="1200" dirty="0"/>
                    </a:p>
                  </a:txBody>
                  <a:tcPr marL="73152" marR="73152" marT="73152" marB="73152" anchor="ctr">
                    <a:lnL w="9525" cap="flat" cmpd="sng" algn="ctr">
                      <a:solidFill>
                        <a:srgbClr val="D5DCDA"/>
                      </a:solidFill>
                      <a:prstDash val="solid"/>
                      <a:round/>
                      <a:headEnd type="none" w="med" len="med"/>
                      <a:tailEnd type="none" w="med" len="med"/>
                    </a:lnL>
                    <a:lnR w="9525" cap="flat" cmpd="sng" algn="ctr">
                      <a:solidFill>
                        <a:srgbClr val="D5DCDA"/>
                      </a:solidFill>
                      <a:prstDash val="solid"/>
                      <a:round/>
                      <a:headEnd type="none" w="med" len="med"/>
                      <a:tailEnd type="none" w="med" len="med"/>
                    </a:lnR>
                    <a:lnT w="9525" cap="flat" cmpd="sng" algn="ctr">
                      <a:solidFill>
                        <a:srgbClr val="D5DCDA"/>
                      </a:solidFill>
                      <a:prstDash val="solid"/>
                      <a:round/>
                      <a:headEnd type="none" w="med" len="med"/>
                      <a:tailEnd type="none" w="med" len="med"/>
                    </a:lnT>
                    <a:lnB w="9525" cap="flat" cmpd="sng" algn="ctr">
                      <a:solidFill>
                        <a:srgbClr val="D5DCDA"/>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Weather covariates (the X in SARIMAX)</a:t>
                      </a:r>
                      <a:endParaRPr lang="en-US" sz="1200" dirty="0"/>
                    </a:p>
                  </a:txBody>
                  <a:tcPr marL="73152" marR="73152" marT="73152" marB="73152" anchor="ctr">
                    <a:lnL w="9525" cap="flat" cmpd="sng" algn="ctr">
                      <a:solidFill>
                        <a:srgbClr val="D5DCDA"/>
                      </a:solidFill>
                      <a:prstDash val="solid"/>
                      <a:round/>
                      <a:headEnd type="none" w="med" len="med"/>
                      <a:tailEnd type="none" w="med" len="med"/>
                    </a:lnL>
                    <a:lnR w="9525" cap="flat" cmpd="sng" algn="ctr">
                      <a:solidFill>
                        <a:srgbClr val="D5DCDA"/>
                      </a:solidFill>
                      <a:prstDash val="solid"/>
                      <a:round/>
                      <a:headEnd type="none" w="med" len="med"/>
                      <a:tailEnd type="none" w="med" len="med"/>
                    </a:lnR>
                    <a:lnT w="9525" cap="flat" cmpd="sng" algn="ctr">
                      <a:solidFill>
                        <a:srgbClr val="D5DCDA"/>
                      </a:solidFill>
                      <a:prstDash val="solid"/>
                      <a:round/>
                      <a:headEnd type="none" w="med" len="med"/>
                      <a:tailEnd type="none" w="med" len="med"/>
                    </a:lnT>
                    <a:lnB w="9525" cap="flat" cmpd="sng" algn="ctr">
                      <a:solidFill>
                        <a:srgbClr val="D5DCDA"/>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chemeClr val="tx1"/>
                          </a:solidFill>
                        </a:rPr>
                        <a:t>[1] SFOE register of power plants</a:t>
                      </a:r>
                      <a:endParaRPr lang="en-US" sz="1200" dirty="0"/>
                    </a:p>
                  </a:txBody>
                  <a:tcPr marL="73152" marR="73152" marT="73152" marB="73152" anchor="ctr">
                    <a:lnL w="9525" cap="flat" cmpd="sng" algn="ctr">
                      <a:solidFill>
                        <a:srgbClr val="D5DCDA"/>
                      </a:solidFill>
                      <a:prstDash val="solid"/>
                      <a:round/>
                      <a:headEnd type="none" w="med" len="med"/>
                      <a:tailEnd type="none" w="med" len="med"/>
                    </a:lnL>
                    <a:lnR w="9525" cap="flat" cmpd="sng" algn="ctr">
                      <a:solidFill>
                        <a:srgbClr val="D5DCDA"/>
                      </a:solidFill>
                      <a:prstDash val="solid"/>
                      <a:round/>
                      <a:headEnd type="none" w="med" len="med"/>
                      <a:tailEnd type="none" w="med" len="med"/>
                    </a:lnR>
                    <a:lnT w="9525" cap="flat" cmpd="sng" algn="ctr">
                      <a:solidFill>
                        <a:srgbClr val="D5DCDA"/>
                      </a:solidFill>
                      <a:prstDash val="solid"/>
                      <a:round/>
                      <a:headEnd type="none" w="med" len="med"/>
                      <a:tailEnd type="none" w="med" len="med"/>
                    </a:lnT>
                    <a:lnB w="9525" cap="flat" cmpd="sng" algn="ctr">
                      <a:solidFill>
                        <a:srgbClr val="D5DCDA"/>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17,205 PV plants in Lucerne: kW, start date, tilt, orientation</a:t>
                      </a:r>
                      <a:endParaRPr lang="en-US" sz="1200" dirty="0"/>
                    </a:p>
                  </a:txBody>
                  <a:tcPr marL="73152" marR="73152" marT="73152" marB="73152" anchor="ctr">
                    <a:lnL w="9525" cap="flat" cmpd="sng" algn="ctr">
                      <a:solidFill>
                        <a:srgbClr val="D5DCDA"/>
                      </a:solidFill>
                      <a:prstDash val="solid"/>
                      <a:round/>
                      <a:headEnd type="none" w="med" len="med"/>
                      <a:tailEnd type="none" w="med" len="med"/>
                    </a:lnL>
                    <a:lnR w="9525" cap="flat" cmpd="sng" algn="ctr">
                      <a:solidFill>
                        <a:srgbClr val="D5DCDA"/>
                      </a:solidFill>
                      <a:prstDash val="solid"/>
                      <a:round/>
                      <a:headEnd type="none" w="med" len="med"/>
                      <a:tailEnd type="none" w="med" len="med"/>
                    </a:lnR>
                    <a:lnT w="9525" cap="flat" cmpd="sng" algn="ctr">
                      <a:solidFill>
                        <a:srgbClr val="D5DCDA"/>
                      </a:solidFill>
                      <a:prstDash val="solid"/>
                      <a:round/>
                      <a:headEnd type="none" w="med" len="med"/>
                      <a:tailEnd type="none" w="med" len="med"/>
                    </a:lnT>
                    <a:lnB w="9525" cap="flat" cmpd="sng" algn="ctr">
                      <a:solidFill>
                        <a:srgbClr val="D5DCDA"/>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Installed capacity over time</a:t>
                      </a:r>
                      <a:endParaRPr lang="en-US" sz="1200" dirty="0"/>
                    </a:p>
                  </a:txBody>
                  <a:tcPr marL="73152" marR="73152" marT="73152" marB="73152" anchor="ctr">
                    <a:lnL w="9525" cap="flat" cmpd="sng" algn="ctr">
                      <a:solidFill>
                        <a:srgbClr val="D5DCDA"/>
                      </a:solidFill>
                      <a:prstDash val="solid"/>
                      <a:round/>
                      <a:headEnd type="none" w="med" len="med"/>
                      <a:tailEnd type="none" w="med" len="med"/>
                    </a:lnL>
                    <a:lnR w="9525" cap="flat" cmpd="sng" algn="ctr">
                      <a:solidFill>
                        <a:srgbClr val="D5DCDA"/>
                      </a:solidFill>
                      <a:prstDash val="solid"/>
                      <a:round/>
                      <a:headEnd type="none" w="med" len="med"/>
                      <a:tailEnd type="none" w="med" len="med"/>
                    </a:lnR>
                    <a:lnT w="9525" cap="flat" cmpd="sng" algn="ctr">
                      <a:solidFill>
                        <a:srgbClr val="D5DCDA"/>
                      </a:solidFill>
                      <a:prstDash val="solid"/>
                      <a:round/>
                      <a:headEnd type="none" w="med" len="med"/>
                      <a:tailEnd type="none" w="med" len="med"/>
                    </a:lnT>
                    <a:lnB w="9525" cap="flat" cmpd="sng" algn="ctr">
                      <a:solidFill>
                        <a:srgbClr val="D5DCDA"/>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chemeClr val="tx1"/>
                          </a:solidFill>
                        </a:rPr>
                        <a:t>[2] SFOE solar potential per municipality</a:t>
                      </a:r>
                      <a:endParaRPr lang="en-US" sz="1200" dirty="0"/>
                    </a:p>
                  </a:txBody>
                  <a:tcPr marL="73152" marR="73152" marT="73152" marB="73152" anchor="ctr">
                    <a:lnL w="9525" cap="flat" cmpd="sng" algn="ctr">
                      <a:solidFill>
                        <a:srgbClr val="D5DCDA"/>
                      </a:solidFill>
                      <a:prstDash val="solid"/>
                      <a:round/>
                      <a:headEnd type="none" w="med" len="med"/>
                      <a:tailEnd type="none" w="med" len="med"/>
                    </a:lnL>
                    <a:lnR w="9525" cap="flat" cmpd="sng" algn="ctr">
                      <a:solidFill>
                        <a:srgbClr val="D5DCDA"/>
                      </a:solidFill>
                      <a:prstDash val="solid"/>
                      <a:round/>
                      <a:headEnd type="none" w="med" len="med"/>
                      <a:tailEnd type="none" w="med" len="med"/>
                    </a:lnR>
                    <a:lnT w="9525" cap="flat" cmpd="sng" algn="ctr">
                      <a:solidFill>
                        <a:srgbClr val="D5DCDA"/>
                      </a:solidFill>
                      <a:prstDash val="solid"/>
                      <a:round/>
                      <a:headEnd type="none" w="med" len="med"/>
                      <a:tailEnd type="none" w="med" len="med"/>
                    </a:lnT>
                    <a:lnB w="9525" cap="flat" cmpd="sng" algn="ctr">
                      <a:solidFill>
                        <a:srgbClr val="D5DCDA"/>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Suitable roof and facade potential</a:t>
                      </a:r>
                      <a:endParaRPr lang="en-US" sz="1200" dirty="0"/>
                    </a:p>
                  </a:txBody>
                  <a:tcPr marL="73152" marR="73152" marT="73152" marB="73152" anchor="ctr">
                    <a:lnL w="9525" cap="flat" cmpd="sng" algn="ctr">
                      <a:solidFill>
                        <a:srgbClr val="D5DCDA"/>
                      </a:solidFill>
                      <a:prstDash val="solid"/>
                      <a:round/>
                      <a:headEnd type="none" w="med" len="med"/>
                      <a:tailEnd type="none" w="med" len="med"/>
                    </a:lnL>
                    <a:lnR w="9525" cap="flat" cmpd="sng" algn="ctr">
                      <a:solidFill>
                        <a:srgbClr val="D5DCDA"/>
                      </a:solidFill>
                      <a:prstDash val="solid"/>
                      <a:round/>
                      <a:headEnd type="none" w="med" len="med"/>
                      <a:tailEnd type="none" w="med" len="med"/>
                    </a:lnR>
                    <a:lnT w="9525" cap="flat" cmpd="sng" algn="ctr">
                      <a:solidFill>
                        <a:srgbClr val="D5DCDA"/>
                      </a:solidFill>
                      <a:prstDash val="solid"/>
                      <a:round/>
                      <a:headEnd type="none" w="med" len="med"/>
                      <a:tailEnd type="none" w="med" len="med"/>
                    </a:lnT>
                    <a:lnB w="9525" cap="flat" cmpd="sng" algn="ctr">
                      <a:solidFill>
                        <a:srgbClr val="D5DCDA"/>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Untapped potential (extension)</a:t>
                      </a:r>
                      <a:endParaRPr lang="en-US" sz="1200" dirty="0"/>
                    </a:p>
                  </a:txBody>
                  <a:tcPr marL="73152" marR="73152" marT="73152" marB="73152" anchor="ctr">
                    <a:lnL w="9525" cap="flat" cmpd="sng" algn="ctr">
                      <a:solidFill>
                        <a:srgbClr val="D5DCDA"/>
                      </a:solidFill>
                      <a:prstDash val="solid"/>
                      <a:round/>
                      <a:headEnd type="none" w="med" len="med"/>
                      <a:tailEnd type="none" w="med" len="med"/>
                    </a:lnL>
                    <a:lnR w="9525" cap="flat" cmpd="sng" algn="ctr">
                      <a:solidFill>
                        <a:srgbClr val="D5DCDA"/>
                      </a:solidFill>
                      <a:prstDash val="solid"/>
                      <a:round/>
                      <a:headEnd type="none" w="med" len="med"/>
                      <a:tailEnd type="none" w="med" len="med"/>
                    </a:lnR>
                    <a:lnT w="9525" cap="flat" cmpd="sng" algn="ctr">
                      <a:solidFill>
                        <a:srgbClr val="D5DCDA"/>
                      </a:solidFill>
                      <a:prstDash val="solid"/>
                      <a:round/>
                      <a:headEnd type="none" w="med" len="med"/>
                      <a:tailEnd type="none" w="med" len="med"/>
                    </a:lnT>
                    <a:lnB w="9525" cap="flat" cmpd="sng" algn="ctr">
                      <a:solidFill>
                        <a:srgbClr val="D5DCDA"/>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chemeClr val="tx1"/>
                          </a:solidFill>
                        </a:rPr>
                        <a:t>[3] SFOE study “Winter power from PV”</a:t>
                      </a:r>
                      <a:endParaRPr lang="en-US" sz="1200" dirty="0"/>
                    </a:p>
                  </a:txBody>
                  <a:tcPr marL="73152" marR="73152" marT="73152" marB="73152" anchor="ctr">
                    <a:lnL w="9525" cap="flat" cmpd="sng" algn="ctr">
                      <a:solidFill>
                        <a:srgbClr val="D5DCDA"/>
                      </a:solidFill>
                      <a:prstDash val="solid"/>
                      <a:round/>
                      <a:headEnd type="none" w="med" len="med"/>
                      <a:tailEnd type="none" w="med" len="med"/>
                    </a:lnL>
                    <a:lnR w="9525" cap="flat" cmpd="sng" algn="ctr">
                      <a:solidFill>
                        <a:srgbClr val="D5DCDA"/>
                      </a:solidFill>
                      <a:prstDash val="solid"/>
                      <a:round/>
                      <a:headEnd type="none" w="med" len="med"/>
                      <a:tailEnd type="none" w="med" len="med"/>
                    </a:lnR>
                    <a:lnT w="9525" cap="flat" cmpd="sng" algn="ctr">
                      <a:solidFill>
                        <a:srgbClr val="D5DCDA"/>
                      </a:solidFill>
                      <a:prstDash val="solid"/>
                      <a:round/>
                      <a:headEnd type="none" w="med" len="med"/>
                      <a:tailEnd type="none" w="med" len="med"/>
                    </a:lnT>
                    <a:lnB w="9525" cap="flat" cmpd="sng" algn="ctr">
                      <a:solidFill>
                        <a:srgbClr val="D5DCDA"/>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PV production profiles of all municipalities, 2004–2018</a:t>
                      </a:r>
                      <a:endParaRPr lang="en-US" sz="1200" dirty="0"/>
                    </a:p>
                  </a:txBody>
                  <a:tcPr marL="73152" marR="73152" marT="73152" marB="73152" anchor="ctr">
                    <a:lnL w="9525" cap="flat" cmpd="sng" algn="ctr">
                      <a:solidFill>
                        <a:srgbClr val="D5DCDA"/>
                      </a:solidFill>
                      <a:prstDash val="solid"/>
                      <a:round/>
                      <a:headEnd type="none" w="med" len="med"/>
                      <a:tailEnd type="none" w="med" len="med"/>
                    </a:lnL>
                    <a:lnR w="9525" cap="flat" cmpd="sng" algn="ctr">
                      <a:solidFill>
                        <a:srgbClr val="D5DCDA"/>
                      </a:solidFill>
                      <a:prstDash val="solid"/>
                      <a:round/>
                      <a:headEnd type="none" w="med" len="med"/>
                      <a:tailEnd type="none" w="med" len="med"/>
                    </a:lnR>
                    <a:lnT w="9525" cap="flat" cmpd="sng" algn="ctr">
                      <a:solidFill>
                        <a:srgbClr val="D5DCDA"/>
                      </a:solidFill>
                      <a:prstDash val="solid"/>
                      <a:round/>
                      <a:headEnd type="none" w="med" len="med"/>
                      <a:tailEnd type="none" w="med" len="med"/>
                    </a:lnT>
                    <a:lnB w="9525" cap="flat" cmpd="sng" algn="ctr">
                      <a:solidFill>
                        <a:srgbClr val="D5DCDA"/>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Validation, winter share (extension)</a:t>
                      </a:r>
                      <a:endParaRPr lang="en-US" sz="1200" dirty="0"/>
                    </a:p>
                  </a:txBody>
                  <a:tcPr marL="73152" marR="73152" marT="73152" marB="73152" anchor="ctr">
                    <a:lnL w="9525" cap="flat" cmpd="sng" algn="ctr">
                      <a:solidFill>
                        <a:srgbClr val="D5DCDA"/>
                      </a:solidFill>
                      <a:prstDash val="solid"/>
                      <a:round/>
                      <a:headEnd type="none" w="med" len="med"/>
                      <a:tailEnd type="none" w="med" len="med"/>
                    </a:lnL>
                    <a:lnR w="9525" cap="flat" cmpd="sng" algn="ctr">
                      <a:solidFill>
                        <a:srgbClr val="D5DCDA"/>
                      </a:solidFill>
                      <a:prstDash val="solid"/>
                      <a:round/>
                      <a:headEnd type="none" w="med" len="med"/>
                      <a:tailEnd type="none" w="med" len="med"/>
                    </a:lnR>
                    <a:lnT w="9525" cap="flat" cmpd="sng" algn="ctr">
                      <a:solidFill>
                        <a:srgbClr val="D5DCDA"/>
                      </a:solidFill>
                      <a:prstDash val="solid"/>
                      <a:round/>
                      <a:headEnd type="none" w="med" len="med"/>
                      <a:tailEnd type="none" w="med" len="med"/>
                    </a:lnT>
                    <a:lnB w="9525" cap="flat" cmpd="sng" algn="ctr">
                      <a:solidFill>
                        <a:srgbClr val="D5DCDA"/>
                      </a:solidFill>
                      <a:prstDash val="solid"/>
                      <a:round/>
                      <a:headEnd type="none" w="med" len="med"/>
                      <a:tailEnd type="none" w="med" len="med"/>
                    </a:lnB>
                    <a:solidFill>
                      <a:srgbClr val="FFFFFF"/>
                    </a:solidFill>
                  </a:tcPr>
                </a:tc>
              </a:tr>
            </a:tbl>
          </a:graphicData>
        </a:graphic>
      </p:graphicFrame>
      <p:sp>
        <p:nvSpPr>
          <p:cNvPr id="4" name="Open question box"/>
          <p:cNvSpPr/>
          <p:nvPr/>
        </p:nvSpPr>
        <p:spPr>
          <a:xfrm>
            <a:off x="548640" y="4800600"/>
            <a:ext cx="7360920" cy="868680"/>
          </a:xfrm>
          <a:prstGeom prst="roundRect">
            <a:avLst>
              <a:gd name="adj" fmla="val 10526"/>
            </a:avLst>
          </a:prstGeom>
          <a:solidFill>
            <a:schemeClr val="accent6"/>
          </a:solidFill>
          <a:ln w="12700">
            <a:solidFill>
              <a:schemeClr val="accent6"/>
            </a:solidFill>
            <a:prstDash val="solid"/>
          </a:ln>
        </p:spPr>
      </p:sp>
      <p:sp>
        <p:nvSpPr>
          <p:cNvPr id="5" name="Open question"/>
          <p:cNvSpPr txBox="1"/>
          <p:nvPr/>
        </p:nvSpPr>
        <p:spPr>
          <a:xfrm>
            <a:off x="731520" y="4846320"/>
            <a:ext cx="6995160" cy="777240"/>
          </a:xfrm>
          <a:prstGeom prst="rect">
            <a:avLst/>
          </a:prstGeom>
          <a:noFill/>
          <a:ln/>
        </p:spPr>
        <p:txBody>
          <a:bodyPr wrap="square" lIns="0" tIns="0" rIns="0" bIns="0" rtlCol="0" anchor="ctr"/>
          <a:lstStyle/>
          <a:p>
            <a:pPr indent="0" marL="0">
              <a:buNone/>
            </a:pPr>
            <a:r>
              <a:rPr lang="en-US" sz="1300" b="1" dirty="0">
                <a:solidFill>
                  <a:schemeClr val="tx1"/>
                </a:solidFill>
              </a:rPr>
              <a:t>Open question: </a:t>
            </a:r>
            <a:pPr indent="0" marL="0">
              <a:buNone/>
            </a:pPr>
            <a:r>
              <a:rPr lang="en-US" sz="1300" dirty="0">
                <a:solidFill>
                  <a:schemeClr val="tx1"/>
                </a:solidFill>
              </a:rPr>
              <a:t>forecast the measured national series [5], or a Lucerne series modelled from installed capacity [1] and local radiation [4] with pvlib [9]?</a:t>
            </a:r>
            <a:endParaRPr lang="en-US" sz="1300" dirty="0"/>
          </a:p>
        </p:txBody>
      </p:sp>
      <p:graphicFrame>
        <p:nvGraphicFramePr>
          <p:cNvPr id="6" name="New PV plants chart" descr=""/>
          <p:cNvGraphicFramePr/>
          <p:nvPr/>
        </p:nvGraphicFramePr>
        <p:xfrm>
          <a:off x="8229600" y="1325880"/>
          <a:ext cx="3410712" cy="4160520"/>
        </p:xfrm>
        <a:graphic xmlns:a="http://schemas.openxmlformats.org/drawingml/2006/main">
          <a:graphicData uri="http://schemas.openxmlformats.org/drawingml/2006/chart">
            <c:chart xmlns:c="http://schemas.openxmlformats.org/drawingml/2006/chart" r:id="rId1"/>
          </a:graphicData>
        </a:graphic>
      </p:graphicFrame>
      <p:sp>
        <p:nvSpPr>
          <p:cNvPr id="7" name="Chart caption"/>
          <p:cNvSpPr txBox="1"/>
          <p:nvPr/>
        </p:nvSpPr>
        <p:spPr>
          <a:xfrm>
            <a:off x="8229600" y="5532120"/>
            <a:ext cx="3410712" cy="320040"/>
          </a:xfrm>
          <a:prstGeom prst="rect">
            <a:avLst/>
          </a:prstGeom>
          <a:noFill/>
          <a:ln/>
        </p:spPr>
        <p:txBody>
          <a:bodyPr wrap="square" lIns="0" tIns="0" rIns="0" bIns="0" rtlCol="0" anchor="ctr"/>
          <a:lstStyle/>
          <a:p>
            <a:pPr indent="0" marL="0">
              <a:buNone/>
            </a:pPr>
            <a:r>
              <a:rPr lang="en-US" sz="1000" dirty="0">
                <a:solidFill>
                  <a:schemeClr val="accent3"/>
                </a:solidFill>
              </a:rPr>
              <a:t>Plants in operation, by start year. Own count from [1].</a:t>
            </a:r>
            <a:endParaRPr lang="en-US" sz="1000" dirty="0"/>
          </a:p>
        </p:txBody>
      </p:sp>
      <p:sp>
        <p:nvSpPr>
          <p:cNvPr id="8" name="Sources"/>
          <p:cNvSpPr txBox="1"/>
          <p:nvPr/>
        </p:nvSpPr>
        <p:spPr>
          <a:xfrm>
            <a:off x="548640" y="5989320"/>
            <a:ext cx="11091672" cy="274320"/>
          </a:xfrm>
          <a:prstGeom prst="rect">
            <a:avLst/>
          </a:prstGeom>
          <a:noFill/>
          <a:ln/>
        </p:spPr>
        <p:txBody>
          <a:bodyPr wrap="square" lIns="0" tIns="0" rIns="0" bIns="0" rtlCol="0" anchor="ctr"/>
          <a:lstStyle/>
          <a:p>
            <a:pPr indent="0" marL="0">
              <a:buNone/>
            </a:pPr>
            <a:r>
              <a:rPr lang="en-US" sz="1000" dirty="0">
                <a:solidFill>
                  <a:schemeClr val="accent3"/>
                </a:solidFill>
              </a:rPr>
              <a:t>Sources: [1]–[5], [9], see References. All checked on 8 Oct 2026.</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6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Approach: same data prep, two models</a:t>
            </a:r>
            <a:endParaRPr lang="en-US" sz="3600" dirty="0"/>
          </a:p>
        </p:txBody>
      </p:sp>
      <p:sp>
        <p:nvSpPr>
          <p:cNvPr id="3" name="Step card 1"/>
          <p:cNvSpPr/>
          <p:nvPr/>
        </p:nvSpPr>
        <p:spPr>
          <a:xfrm>
            <a:off x="548640" y="1325880"/>
            <a:ext cx="1998878" cy="2148840"/>
          </a:xfrm>
          <a:prstGeom prst="roundRect">
            <a:avLst>
              <a:gd name="adj" fmla="val 4575"/>
            </a:avLst>
          </a:prstGeom>
          <a:solidFill>
            <a:schemeClr val="bg1"/>
          </a:solidFill>
          <a:ln w="12700">
            <a:solidFill>
              <a:srgbClr val="D5DCDA"/>
            </a:solidFill>
            <a:prstDash val="solid"/>
          </a:ln>
        </p:spPr>
      </p:sp>
      <p:sp>
        <p:nvSpPr>
          <p:cNvPr id="4" name="Step text 1"/>
          <p:cNvSpPr txBox="1"/>
          <p:nvPr/>
        </p:nvSpPr>
        <p:spPr>
          <a:xfrm>
            <a:off x="713232" y="1490472"/>
            <a:ext cx="1669694" cy="1819656"/>
          </a:xfrm>
          <a:prstGeom prst="rect">
            <a:avLst/>
          </a:prstGeom>
          <a:noFill/>
          <a:ln/>
        </p:spPr>
        <p:txBody>
          <a:bodyPr wrap="square" lIns="0" tIns="0" rIns="0" bIns="0" rtlCol="0" anchor="t"/>
          <a:lstStyle/>
          <a:p>
            <a:pPr indent="0" marL="0">
              <a:buNone/>
            </a:pPr>
            <a:r>
              <a:rPr lang="en-US" sz="1100" b="1" dirty="0">
                <a:solidFill>
                  <a:schemeClr val="accent3"/>
                </a:solidFill>
              </a:rPr>
              <a:t>STEP 1</a:t>
            </a:r>
            <a:endParaRPr lang="en-US" sz="1100" dirty="0"/>
          </a:p>
          <a:p>
            <a:pPr indent="0" marL="0">
              <a:spcBef>
                <a:spcPts val="400"/>
              </a:spcBef>
              <a:buNone/>
            </a:pPr>
            <a:r>
              <a:rPr lang="en-US" sz="1800" b="1" dirty="0">
                <a:solidFill>
                  <a:schemeClr val="tx1"/>
                </a:solidFill>
                <a:latin typeface="+mj-lt" pitchFamily="34" charset="0"/>
                <a:ea typeface="+mj-lt" pitchFamily="34" charset="-122"/>
                <a:cs typeface="+mj-lt" pitchFamily="34" charset="-120"/>
              </a:rPr>
              <a:t>Data prep</a:t>
            </a:r>
            <a:endParaRPr lang="en-US" sz="1100" dirty="0"/>
          </a:p>
          <a:p>
            <a:pPr indent="0" marL="0">
              <a:spcBef>
                <a:spcPts val="600"/>
              </a:spcBef>
              <a:buNone/>
            </a:pPr>
            <a:r>
              <a:rPr lang="en-US" sz="1300" dirty="0">
                <a:solidFill>
                  <a:schemeClr val="tx2"/>
                </a:solidFill>
              </a:rPr>
              <a:t>Clean, resample to hourly, align time zones, fill gaps, join weather data</a:t>
            </a:r>
            <a:endParaRPr lang="en-US" sz="1100" dirty="0"/>
          </a:p>
        </p:txBody>
      </p:sp>
      <p:sp>
        <p:nvSpPr>
          <p:cNvPr id="5" name="Arrow 1"/>
          <p:cNvSpPr/>
          <p:nvPr/>
        </p:nvSpPr>
        <p:spPr>
          <a:xfrm>
            <a:off x="2593238" y="2290572"/>
            <a:ext cx="182880" cy="219456"/>
          </a:xfrm>
          <a:prstGeom prst="rightArrow">
            <a:avLst/>
          </a:prstGeom>
          <a:solidFill>
            <a:schemeClr val="accent3"/>
          </a:solidFill>
          <a:ln w="12700">
            <a:solidFill>
              <a:schemeClr val="accent3"/>
            </a:solidFill>
            <a:prstDash val="solid"/>
          </a:ln>
        </p:spPr>
      </p:sp>
      <p:sp>
        <p:nvSpPr>
          <p:cNvPr id="6" name="Step card 2"/>
          <p:cNvSpPr/>
          <p:nvPr/>
        </p:nvSpPr>
        <p:spPr>
          <a:xfrm>
            <a:off x="2821838" y="1325880"/>
            <a:ext cx="1998878" cy="2148840"/>
          </a:xfrm>
          <a:prstGeom prst="roundRect">
            <a:avLst>
              <a:gd name="adj" fmla="val 4575"/>
            </a:avLst>
          </a:prstGeom>
          <a:solidFill>
            <a:schemeClr val="bg1"/>
          </a:solidFill>
          <a:ln w="12700">
            <a:solidFill>
              <a:srgbClr val="D5DCDA"/>
            </a:solidFill>
            <a:prstDash val="solid"/>
          </a:ln>
        </p:spPr>
      </p:sp>
      <p:sp>
        <p:nvSpPr>
          <p:cNvPr id="7" name="Step text 2"/>
          <p:cNvSpPr txBox="1"/>
          <p:nvPr/>
        </p:nvSpPr>
        <p:spPr>
          <a:xfrm>
            <a:off x="2986430" y="1490472"/>
            <a:ext cx="1669694" cy="1819656"/>
          </a:xfrm>
          <a:prstGeom prst="rect">
            <a:avLst/>
          </a:prstGeom>
          <a:noFill/>
          <a:ln/>
        </p:spPr>
        <p:txBody>
          <a:bodyPr wrap="square" lIns="0" tIns="0" rIns="0" bIns="0" rtlCol="0" anchor="t"/>
          <a:lstStyle/>
          <a:p>
            <a:pPr indent="0" marL="0">
              <a:buNone/>
            </a:pPr>
            <a:r>
              <a:rPr lang="en-US" sz="1100" b="1" dirty="0">
                <a:solidFill>
                  <a:schemeClr val="accent3"/>
                </a:solidFill>
              </a:rPr>
              <a:t>STEP 2</a:t>
            </a:r>
            <a:endParaRPr lang="en-US" sz="1100" dirty="0"/>
          </a:p>
          <a:p>
            <a:pPr indent="0" marL="0">
              <a:spcBef>
                <a:spcPts val="400"/>
              </a:spcBef>
              <a:buNone/>
            </a:pPr>
            <a:r>
              <a:rPr lang="en-US" sz="1800" b="1" dirty="0">
                <a:solidFill>
                  <a:schemeClr val="tx1"/>
                </a:solidFill>
                <a:latin typeface="+mj-lt" pitchFamily="34" charset="0"/>
                <a:ea typeface="+mj-lt" pitchFamily="34" charset="-122"/>
                <a:cs typeface="+mj-lt" pitchFamily="34" charset="-120"/>
              </a:rPr>
              <a:t>Baseline</a:t>
            </a:r>
            <a:endParaRPr lang="en-US" sz="1100" dirty="0"/>
          </a:p>
          <a:p>
            <a:pPr indent="0" marL="0">
              <a:spcBef>
                <a:spcPts val="600"/>
              </a:spcBef>
              <a:buNone/>
            </a:pPr>
            <a:r>
              <a:rPr lang="en-US" sz="1300" dirty="0">
                <a:solidFill>
                  <a:schemeClr val="tx2"/>
                </a:solidFill>
              </a:rPr>
              <a:t>Seasonal naive: same hour of the previous day [10]</a:t>
            </a:r>
            <a:endParaRPr lang="en-US" sz="1100" dirty="0"/>
          </a:p>
        </p:txBody>
      </p:sp>
      <p:sp>
        <p:nvSpPr>
          <p:cNvPr id="8" name="Arrow 2"/>
          <p:cNvSpPr/>
          <p:nvPr/>
        </p:nvSpPr>
        <p:spPr>
          <a:xfrm>
            <a:off x="4866437" y="2290572"/>
            <a:ext cx="182880" cy="219456"/>
          </a:xfrm>
          <a:prstGeom prst="rightArrow">
            <a:avLst/>
          </a:prstGeom>
          <a:solidFill>
            <a:schemeClr val="accent3"/>
          </a:solidFill>
          <a:ln w="12700">
            <a:solidFill>
              <a:schemeClr val="accent3"/>
            </a:solidFill>
            <a:prstDash val="solid"/>
          </a:ln>
        </p:spPr>
      </p:sp>
      <p:sp>
        <p:nvSpPr>
          <p:cNvPr id="9" name="Step card 3"/>
          <p:cNvSpPr/>
          <p:nvPr/>
        </p:nvSpPr>
        <p:spPr>
          <a:xfrm>
            <a:off x="5095037" y="1325880"/>
            <a:ext cx="1998878" cy="2148840"/>
          </a:xfrm>
          <a:prstGeom prst="roundRect">
            <a:avLst>
              <a:gd name="adj" fmla="val 4575"/>
            </a:avLst>
          </a:prstGeom>
          <a:solidFill>
            <a:schemeClr val="bg1"/>
          </a:solidFill>
          <a:ln w="25400">
            <a:solidFill>
              <a:srgbClr val="2F6699"/>
            </a:solidFill>
            <a:prstDash val="solid"/>
          </a:ln>
        </p:spPr>
      </p:sp>
      <p:sp>
        <p:nvSpPr>
          <p:cNvPr id="10" name="Step text 3"/>
          <p:cNvSpPr txBox="1"/>
          <p:nvPr/>
        </p:nvSpPr>
        <p:spPr>
          <a:xfrm>
            <a:off x="5259629" y="1490472"/>
            <a:ext cx="1669694" cy="1819656"/>
          </a:xfrm>
          <a:prstGeom prst="rect">
            <a:avLst/>
          </a:prstGeom>
          <a:noFill/>
          <a:ln/>
        </p:spPr>
        <p:txBody>
          <a:bodyPr wrap="square" lIns="0" tIns="0" rIns="0" bIns="0" rtlCol="0" anchor="t"/>
          <a:lstStyle/>
          <a:p>
            <a:pPr indent="0" marL="0">
              <a:buNone/>
            </a:pPr>
            <a:r>
              <a:rPr lang="en-US" sz="1100" b="1" dirty="0">
                <a:solidFill>
                  <a:schemeClr val="accent2"/>
                </a:solidFill>
              </a:rPr>
              <a:t>STEP 3 · CORE</a:t>
            </a:r>
            <a:endParaRPr lang="en-US" sz="1100" dirty="0"/>
          </a:p>
          <a:p>
            <a:pPr indent="0" marL="0">
              <a:spcBef>
                <a:spcPts val="400"/>
              </a:spcBef>
              <a:buNone/>
            </a:pPr>
            <a:r>
              <a:rPr lang="en-US" sz="1800" b="1" dirty="0">
                <a:solidFill>
                  <a:schemeClr val="tx1"/>
                </a:solidFill>
                <a:latin typeface="+mj-lt" pitchFamily="34" charset="0"/>
                <a:ea typeface="+mj-lt" pitchFamily="34" charset="-122"/>
                <a:cs typeface="+mj-lt" pitchFamily="34" charset="-120"/>
              </a:rPr>
              <a:t>SARIMAX</a:t>
            </a:r>
            <a:endParaRPr lang="en-US" sz="1100" dirty="0"/>
          </a:p>
          <a:p>
            <a:pPr indent="0" marL="0">
              <a:spcBef>
                <a:spcPts val="600"/>
              </a:spcBef>
              <a:buNone/>
            </a:pPr>
            <a:r>
              <a:rPr lang="en-US" sz="1300" dirty="0">
                <a:solidFill>
                  <a:schemeClr val="tx2"/>
                </a:solidFill>
              </a:rPr>
              <a:t>Seasonal ARIMA with weather covariates: radiation, temperature [6, 7]</a:t>
            </a:r>
            <a:endParaRPr lang="en-US" sz="1100" dirty="0"/>
          </a:p>
        </p:txBody>
      </p:sp>
      <p:sp>
        <p:nvSpPr>
          <p:cNvPr id="11" name="Arrow 3"/>
          <p:cNvSpPr/>
          <p:nvPr/>
        </p:nvSpPr>
        <p:spPr>
          <a:xfrm>
            <a:off x="7139635" y="2290572"/>
            <a:ext cx="182880" cy="219456"/>
          </a:xfrm>
          <a:prstGeom prst="rightArrow">
            <a:avLst/>
          </a:prstGeom>
          <a:solidFill>
            <a:schemeClr val="accent3"/>
          </a:solidFill>
          <a:ln w="12700">
            <a:solidFill>
              <a:schemeClr val="accent3"/>
            </a:solidFill>
            <a:prstDash val="solid"/>
          </a:ln>
        </p:spPr>
      </p:sp>
      <p:sp>
        <p:nvSpPr>
          <p:cNvPr id="12" name="Step card 4"/>
          <p:cNvSpPr/>
          <p:nvPr/>
        </p:nvSpPr>
        <p:spPr>
          <a:xfrm>
            <a:off x="7368235" y="1325880"/>
            <a:ext cx="1998878" cy="2148840"/>
          </a:xfrm>
          <a:prstGeom prst="roundRect">
            <a:avLst>
              <a:gd name="adj" fmla="val 4575"/>
            </a:avLst>
          </a:prstGeom>
          <a:solidFill>
            <a:schemeClr val="bg1"/>
          </a:solidFill>
          <a:ln w="25400">
            <a:solidFill>
              <a:srgbClr val="E0A030"/>
            </a:solidFill>
            <a:prstDash val="dash"/>
          </a:ln>
        </p:spPr>
      </p:sp>
      <p:sp>
        <p:nvSpPr>
          <p:cNvPr id="13" name="Step text 4"/>
          <p:cNvSpPr txBox="1"/>
          <p:nvPr/>
        </p:nvSpPr>
        <p:spPr>
          <a:xfrm>
            <a:off x="7532827" y="1490472"/>
            <a:ext cx="1669694" cy="1417320"/>
          </a:xfrm>
          <a:prstGeom prst="rect">
            <a:avLst/>
          </a:prstGeom>
          <a:noFill/>
          <a:ln/>
        </p:spPr>
        <p:txBody>
          <a:bodyPr wrap="square" lIns="0" tIns="0" rIns="0" bIns="0" rtlCol="0" anchor="t"/>
          <a:lstStyle/>
          <a:p>
            <a:pPr indent="0" marL="0">
              <a:buNone/>
            </a:pPr>
            <a:r>
              <a:rPr lang="en-US" sz="1100" b="1" dirty="0">
                <a:solidFill>
                  <a:schemeClr val="accent3"/>
                </a:solidFill>
              </a:rPr>
              <a:t>STEP 4 · STRETCH</a:t>
            </a:r>
            <a:endParaRPr lang="en-US" sz="1100" dirty="0"/>
          </a:p>
          <a:p>
            <a:pPr indent="0" marL="0">
              <a:spcBef>
                <a:spcPts val="400"/>
              </a:spcBef>
              <a:buNone/>
            </a:pPr>
            <a:r>
              <a:rPr lang="en-US" sz="1800" b="1" dirty="0">
                <a:solidFill>
                  <a:schemeClr val="tx1"/>
                </a:solidFill>
                <a:latin typeface="+mj-lt" pitchFamily="34" charset="0"/>
                <a:ea typeface="+mj-lt" pitchFamily="34" charset="-122"/>
                <a:cs typeface="+mj-lt" pitchFamily="34" charset="-120"/>
              </a:rPr>
              <a:t>TimesFM</a:t>
            </a:r>
            <a:endParaRPr lang="en-US" sz="1100" dirty="0"/>
          </a:p>
          <a:p>
            <a:pPr indent="0" marL="0">
              <a:spcBef>
                <a:spcPts val="600"/>
              </a:spcBef>
              <a:buNone/>
            </a:pPr>
            <a:r>
              <a:rPr lang="en-US" sz="1300" dirty="0">
                <a:solidFill>
                  <a:schemeClr val="tx2"/>
                </a:solidFill>
              </a:rPr>
              <a:t>Pretrained foundation model, same inputs and test windows [8]</a:t>
            </a:r>
            <a:endParaRPr lang="en-US" sz="1100" dirty="0"/>
          </a:p>
        </p:txBody>
      </p:sp>
      <p:sp>
        <p:nvSpPr>
          <p:cNvPr id="14" name="Pill"/>
          <p:cNvSpPr/>
          <p:nvPr/>
        </p:nvSpPr>
        <p:spPr>
          <a:xfrm>
            <a:off x="7532827" y="2971800"/>
            <a:ext cx="1463040" cy="329184"/>
          </a:xfrm>
          <a:prstGeom prst="roundRect">
            <a:avLst>
              <a:gd name="adj" fmla="val 50000"/>
            </a:avLst>
          </a:prstGeom>
          <a:solidFill>
            <a:schemeClr val="accent1"/>
          </a:solidFill>
          <a:ln w="12700">
            <a:solidFill>
              <a:schemeClr val="accent1"/>
            </a:solidFill>
            <a:prstDash val="solid"/>
          </a:ln>
        </p:spPr>
      </p:sp>
      <p:sp>
        <p:nvSpPr>
          <p:cNvPr id="15" name="Pill text"/>
          <p:cNvSpPr txBox="1"/>
          <p:nvPr/>
        </p:nvSpPr>
        <p:spPr>
          <a:xfrm>
            <a:off x="7532827" y="2971800"/>
            <a:ext cx="1463040" cy="329184"/>
          </a:xfrm>
          <a:prstGeom prst="rect">
            <a:avLst/>
          </a:prstGeom>
          <a:noFill/>
          <a:ln/>
        </p:spPr>
        <p:txBody>
          <a:bodyPr wrap="square" lIns="0" tIns="0" rIns="0" bIns="0" rtlCol="0" anchor="ctr"/>
          <a:lstStyle/>
          <a:p>
            <a:pPr algn="ctr" indent="0" marL="0">
              <a:buNone/>
            </a:pPr>
            <a:r>
              <a:rPr lang="en-US" sz="1100" b="1" dirty="0">
                <a:solidFill>
                  <a:schemeClr val="tx1"/>
                </a:solidFill>
              </a:rPr>
              <a:t>Needs your OK</a:t>
            </a:r>
            <a:endParaRPr lang="en-US" sz="1100" dirty="0"/>
          </a:p>
        </p:txBody>
      </p:sp>
      <p:sp>
        <p:nvSpPr>
          <p:cNvPr id="16" name="Arrow 4"/>
          <p:cNvSpPr/>
          <p:nvPr/>
        </p:nvSpPr>
        <p:spPr>
          <a:xfrm>
            <a:off x="9412834" y="2290572"/>
            <a:ext cx="182880" cy="219456"/>
          </a:xfrm>
          <a:prstGeom prst="rightArrow">
            <a:avLst/>
          </a:prstGeom>
          <a:solidFill>
            <a:schemeClr val="accent3"/>
          </a:solidFill>
          <a:ln w="12700">
            <a:solidFill>
              <a:schemeClr val="accent3"/>
            </a:solidFill>
            <a:prstDash val="solid"/>
          </a:ln>
        </p:spPr>
      </p:sp>
      <p:sp>
        <p:nvSpPr>
          <p:cNvPr id="17" name="Step card 5"/>
          <p:cNvSpPr/>
          <p:nvPr/>
        </p:nvSpPr>
        <p:spPr>
          <a:xfrm>
            <a:off x="9641434" y="1325880"/>
            <a:ext cx="1998878" cy="2148840"/>
          </a:xfrm>
          <a:prstGeom prst="roundRect">
            <a:avLst>
              <a:gd name="adj" fmla="val 4575"/>
            </a:avLst>
          </a:prstGeom>
          <a:solidFill>
            <a:schemeClr val="bg1"/>
          </a:solidFill>
          <a:ln w="12700">
            <a:solidFill>
              <a:srgbClr val="D5DCDA"/>
            </a:solidFill>
            <a:prstDash val="solid"/>
          </a:ln>
        </p:spPr>
      </p:sp>
      <p:sp>
        <p:nvSpPr>
          <p:cNvPr id="18" name="Step text 5"/>
          <p:cNvSpPr txBox="1"/>
          <p:nvPr/>
        </p:nvSpPr>
        <p:spPr>
          <a:xfrm>
            <a:off x="9806026" y="1490472"/>
            <a:ext cx="1669694" cy="1819656"/>
          </a:xfrm>
          <a:prstGeom prst="rect">
            <a:avLst/>
          </a:prstGeom>
          <a:noFill/>
          <a:ln/>
        </p:spPr>
        <p:txBody>
          <a:bodyPr wrap="square" lIns="0" tIns="0" rIns="0" bIns="0" rtlCol="0" anchor="t"/>
          <a:lstStyle/>
          <a:p>
            <a:pPr indent="0" marL="0">
              <a:buNone/>
            </a:pPr>
            <a:r>
              <a:rPr lang="en-US" sz="1100" b="1" dirty="0">
                <a:solidFill>
                  <a:schemeClr val="accent3"/>
                </a:solidFill>
              </a:rPr>
              <a:t>STEP 5</a:t>
            </a:r>
            <a:endParaRPr lang="en-US" sz="1100" dirty="0"/>
          </a:p>
          <a:p>
            <a:pPr indent="0" marL="0">
              <a:spcBef>
                <a:spcPts val="400"/>
              </a:spcBef>
              <a:buNone/>
            </a:pPr>
            <a:r>
              <a:rPr lang="en-US" sz="1800" b="1" dirty="0">
                <a:solidFill>
                  <a:schemeClr val="tx1"/>
                </a:solidFill>
                <a:latin typeface="+mj-lt" pitchFamily="34" charset="0"/>
                <a:ea typeface="+mj-lt" pitchFamily="34" charset="-122"/>
                <a:cs typeface="+mj-lt" pitchFamily="34" charset="-120"/>
              </a:rPr>
              <a:t>Evaluate</a:t>
            </a:r>
            <a:endParaRPr lang="en-US" sz="1100" dirty="0"/>
          </a:p>
          <a:p>
            <a:pPr indent="0" marL="0">
              <a:spcBef>
                <a:spcPts val="600"/>
              </a:spcBef>
              <a:buNone/>
            </a:pPr>
            <a:r>
              <a:rPr lang="en-US" sz="1300" dirty="0">
                <a:solidFill>
                  <a:schemeClr val="tx2"/>
                </a:solidFill>
              </a:rPr>
              <a:t>MAE and RMSE on identical test weeks, plus compute time; results in a dashboard</a:t>
            </a:r>
            <a:endParaRPr lang="en-US" sz="1100" dirty="0"/>
          </a:p>
        </p:txBody>
      </p:sp>
      <p:sp>
        <p:nvSpPr>
          <p:cNvPr id="19" name="Box 1"/>
          <p:cNvSpPr/>
          <p:nvPr/>
        </p:nvSpPr>
        <p:spPr>
          <a:xfrm>
            <a:off x="548640" y="3794760"/>
            <a:ext cx="5408676" cy="1463040"/>
          </a:xfrm>
          <a:prstGeom prst="roundRect">
            <a:avLst>
              <a:gd name="adj" fmla="val 6250"/>
            </a:avLst>
          </a:prstGeom>
          <a:solidFill>
            <a:schemeClr val="accent5"/>
          </a:solidFill>
          <a:ln w="12700">
            <a:solidFill>
              <a:schemeClr val="accent5"/>
            </a:solidFill>
            <a:prstDash val="solid"/>
          </a:ln>
        </p:spPr>
      </p:sp>
      <p:sp>
        <p:nvSpPr>
          <p:cNvPr id="20" name="Box text 1"/>
          <p:cNvSpPr txBox="1"/>
          <p:nvPr/>
        </p:nvSpPr>
        <p:spPr>
          <a:xfrm>
            <a:off x="822960" y="3977640"/>
            <a:ext cx="4860036" cy="109728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Sustainability angle (SDG 7.2) [11]</a:t>
            </a:r>
            <a:endParaRPr lang="en-US" sz="1600" dirty="0"/>
          </a:p>
          <a:p>
            <a:pPr indent="0" marL="0">
              <a:spcBef>
                <a:spcPts val="600"/>
              </a:spcBef>
              <a:buNone/>
            </a:pPr>
            <a:r>
              <a:rPr lang="en-US" sz="1400" dirty="0">
                <a:solidFill>
                  <a:schemeClr val="tx2"/>
                </a:solidFill>
              </a:rPr>
              <a:t>Better solar forecasts make PV easier to integrate into the grid [12]: heat pumps, EV charging and batteries can be shifted into sunny hours.</a:t>
            </a:r>
            <a:endParaRPr lang="en-US" sz="1600" dirty="0"/>
          </a:p>
        </p:txBody>
      </p:sp>
      <p:sp>
        <p:nvSpPr>
          <p:cNvPr id="21" name="Box 2"/>
          <p:cNvSpPr/>
          <p:nvPr/>
        </p:nvSpPr>
        <p:spPr>
          <a:xfrm>
            <a:off x="6231636" y="3794760"/>
            <a:ext cx="5408676" cy="1463040"/>
          </a:xfrm>
          <a:prstGeom prst="roundRect">
            <a:avLst>
              <a:gd name="adj" fmla="val 6250"/>
            </a:avLst>
          </a:prstGeom>
          <a:solidFill>
            <a:schemeClr val="accent6"/>
          </a:solidFill>
          <a:ln w="12700">
            <a:solidFill>
              <a:schemeClr val="accent6"/>
            </a:solidFill>
            <a:prstDash val="solid"/>
          </a:ln>
        </p:spPr>
      </p:sp>
      <p:sp>
        <p:nvSpPr>
          <p:cNvPr id="22" name="Box text 2"/>
          <p:cNvSpPr txBox="1"/>
          <p:nvPr/>
        </p:nvSpPr>
        <p:spPr>
          <a:xfrm>
            <a:off x="6505956" y="3977640"/>
            <a:ext cx="4860036" cy="109728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Reflection and extensions</a:t>
            </a:r>
            <a:endParaRPr lang="en-US" sz="1600" dirty="0"/>
          </a:p>
          <a:p>
            <a:pPr indent="0" marL="0">
              <a:spcBef>
                <a:spcPts val="600"/>
              </a:spcBef>
              <a:buNone/>
            </a:pPr>
            <a:r>
              <a:rPr lang="en-US" sz="1400" dirty="0">
                <a:solidFill>
                  <a:schemeClr val="tx2"/>
                </a:solidFill>
              </a:rPr>
              <a:t>Is a large model worth its extra compute for the accuracy it adds? If time allows: more cantons, untapped potential [2], winter share [3].</a:t>
            </a:r>
            <a:endParaRPr lang="en-US" sz="1600" dirty="0"/>
          </a:p>
        </p:txBody>
      </p:sp>
      <p:sp>
        <p:nvSpPr>
          <p:cNvPr id="23" name="Sources"/>
          <p:cNvSpPr txBox="1"/>
          <p:nvPr/>
        </p:nvSpPr>
        <p:spPr>
          <a:xfrm>
            <a:off x="548640" y="5989320"/>
            <a:ext cx="11091672" cy="274320"/>
          </a:xfrm>
          <a:prstGeom prst="rect">
            <a:avLst/>
          </a:prstGeom>
          <a:noFill/>
          <a:ln/>
        </p:spPr>
        <p:txBody>
          <a:bodyPr wrap="square" lIns="0" tIns="0" rIns="0" bIns="0" rtlCol="0" anchor="ctr"/>
          <a:lstStyle/>
          <a:p>
            <a:pPr indent="0" marL="0">
              <a:buNone/>
            </a:pPr>
            <a:r>
              <a:rPr lang="en-US" sz="1000" dirty="0">
                <a:solidFill>
                  <a:schemeClr val="accent3"/>
                </a:solidFill>
              </a:rPr>
              <a:t>Sources: [6] Shumway &amp; Stoffer 2017 · [7] Seabold &amp; Perktold 2010 · [8] Das et al. 2024 · [10] Hyndman &amp; Athanasopoulos 2021 · [11] UN · [12] Swissgrid</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6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First tasks and questions for you</a:t>
            </a:r>
            <a:endParaRPr lang="en-US" sz="3600" dirty="0"/>
          </a:p>
        </p:txBody>
      </p:sp>
      <p:graphicFrame>
        <p:nvGraphicFramePr>
          <p:cNvPr id="5" name="Timeline table"/>
          <p:cNvGraphicFramePr>
            <a:graphicFrameLocks noGrp="1"/>
          </p:cNvGraphicFramePr>
          <p:nvPr>
            <p:extLst>
              <p:ext uri="{D42A27DB-BD31-4B8C-83A1-F6EECF244321}">
                <p14:modId xmlns:p14="http://schemas.microsoft.com/office/powerpoint/2010/main" val="1579011935"/>
              </p:ext>
            </p:extLst>
          </p:nvPr>
        </p:nvGraphicFramePr>
        <p:xfrm>
          <a:off x="548640" y="1325880"/>
          <a:ext cx="6035040" cy="914400"/>
        </p:xfrm>
        <a:graphic>
          <a:graphicData uri="http://schemas.openxmlformats.org/drawingml/2006/table">
            <a:tbl>
              <a:tblPr/>
              <a:tblGrid>
                <a:gridCol w="1188720"/>
                <a:gridCol w="4846320"/>
              </a:tblGrid>
              <a:tr h="411480">
                <a:tc>
                  <a:txBody>
                    <a:bodyPr/>
                    <a:lstStyle/>
                    <a:p>
                      <a:pPr indent="0" marL="0">
                        <a:buNone/>
                      </a:pPr>
                      <a:r>
                        <a:rPr lang="en-US" sz="1300" b="1" dirty="0">
                          <a:solidFill>
                            <a:schemeClr val="bg1"/>
                          </a:solidFill>
                        </a:rPr>
                        <a:t>Until</a:t>
                      </a:r>
                      <a:endParaRPr lang="en-US" sz="1300" dirty="0"/>
                    </a:p>
                  </a:txBody>
                  <a:tcPr marL="73152" marR="73152" marT="73152" marB="73152" anchor="ctr">
                    <a:lnL w="9525" cap="flat" cmpd="sng" algn="ctr">
                      <a:solidFill>
                        <a:srgbClr val="D5DCDA"/>
                      </a:solidFill>
                      <a:prstDash val="solid"/>
                      <a:round/>
                      <a:headEnd type="none" w="med" len="med"/>
                      <a:tailEnd type="none" w="med" len="med"/>
                    </a:lnL>
                    <a:lnR w="9525" cap="flat" cmpd="sng" algn="ctr">
                      <a:solidFill>
                        <a:srgbClr val="D5DCDA"/>
                      </a:solidFill>
                      <a:prstDash val="solid"/>
                      <a:round/>
                      <a:headEnd type="none" w="med" len="med"/>
                      <a:tailEnd type="none" w="med" len="med"/>
                    </a:lnR>
                    <a:lnT w="9525" cap="flat" cmpd="sng" algn="ctr">
                      <a:solidFill>
                        <a:srgbClr val="D5DCDA"/>
                      </a:solidFill>
                      <a:prstDash val="solid"/>
                      <a:round/>
                      <a:headEnd type="none" w="med" len="med"/>
                      <a:tailEnd type="none" w="med" len="med"/>
                    </a:lnT>
                    <a:lnB w="9525" cap="flat" cmpd="sng" algn="ctr">
                      <a:solidFill>
                        <a:srgbClr val="D5DCDA"/>
                      </a:solidFill>
                      <a:prstDash val="solid"/>
                      <a:round/>
                      <a:headEnd type="none" w="med" len="med"/>
                      <a:tailEnd type="none" w="med" len="med"/>
                    </a:lnB>
                    <a:solidFill>
                      <a:srgbClr val="1B2A2F"/>
                    </a:solidFill>
                  </a:tcPr>
                </a:tc>
                <a:tc>
                  <a:txBody>
                    <a:bodyPr/>
                    <a:lstStyle/>
                    <a:p>
                      <a:pPr indent="0" marL="0">
                        <a:buNone/>
                      </a:pPr>
                      <a:r>
                        <a:rPr lang="en-US" sz="1300" b="1" dirty="0">
                          <a:solidFill>
                            <a:schemeClr val="bg1"/>
                          </a:solidFill>
                        </a:rPr>
                        <a:t>Task</a:t>
                      </a:r>
                      <a:endParaRPr lang="en-US" sz="1300" dirty="0"/>
                    </a:p>
                  </a:txBody>
                  <a:tcPr marL="73152" marR="73152" marT="73152" marB="73152" anchor="ctr">
                    <a:lnL w="9525" cap="flat" cmpd="sng" algn="ctr">
                      <a:solidFill>
                        <a:srgbClr val="D5DCDA"/>
                      </a:solidFill>
                      <a:prstDash val="solid"/>
                      <a:round/>
                      <a:headEnd type="none" w="med" len="med"/>
                      <a:tailEnd type="none" w="med" len="med"/>
                    </a:lnL>
                    <a:lnR w="9525" cap="flat" cmpd="sng" algn="ctr">
                      <a:solidFill>
                        <a:srgbClr val="D5DCDA"/>
                      </a:solidFill>
                      <a:prstDash val="solid"/>
                      <a:round/>
                      <a:headEnd type="none" w="med" len="med"/>
                      <a:tailEnd type="none" w="med" len="med"/>
                    </a:lnR>
                    <a:lnT w="9525" cap="flat" cmpd="sng" algn="ctr">
                      <a:solidFill>
                        <a:srgbClr val="D5DCDA"/>
                      </a:solidFill>
                      <a:prstDash val="solid"/>
                      <a:round/>
                      <a:headEnd type="none" w="med" len="med"/>
                      <a:tailEnd type="none" w="med" len="med"/>
                    </a:lnT>
                    <a:lnB w="9525" cap="flat" cmpd="sng" algn="ctr">
                      <a:solidFill>
                        <a:srgbClr val="D5DCDA"/>
                      </a:solidFill>
                      <a:prstDash val="solid"/>
                      <a:round/>
                      <a:headEnd type="none" w="med" len="med"/>
                      <a:tailEnd type="none" w="med" len="med"/>
                    </a:lnB>
                    <a:solidFill>
                      <a:srgbClr val="1B2A2F"/>
                    </a:solidFill>
                  </a:tcPr>
                </a:tc>
              </a:tr>
              <a:tr h="548640">
                <a:tc>
                  <a:txBody>
                    <a:bodyPr/>
                    <a:lstStyle/>
                    <a:p>
                      <a:pPr indent="0" marL="0">
                        <a:buNone/>
                      </a:pPr>
                      <a:r>
                        <a:rPr lang="en-US" sz="1300" b="1" dirty="0">
                          <a:solidFill>
                            <a:schemeClr val="tx1"/>
                          </a:solidFill>
                        </a:rPr>
                        <a:t>15 Oct</a:t>
                      </a:r>
                      <a:endParaRPr lang="en-US" sz="1300" dirty="0"/>
                    </a:p>
                  </a:txBody>
                  <a:tcPr marL="73152" marR="73152" marT="73152" marB="73152" anchor="ctr">
                    <a:lnL w="9525" cap="flat" cmpd="sng" algn="ctr">
                      <a:solidFill>
                        <a:srgbClr val="D5DCDA"/>
                      </a:solidFill>
                      <a:prstDash val="solid"/>
                      <a:round/>
                      <a:headEnd type="none" w="med" len="med"/>
                      <a:tailEnd type="none" w="med" len="med"/>
                    </a:lnL>
                    <a:lnR w="9525" cap="flat" cmpd="sng" algn="ctr">
                      <a:solidFill>
                        <a:srgbClr val="D5DCDA"/>
                      </a:solidFill>
                      <a:prstDash val="solid"/>
                      <a:round/>
                      <a:headEnd type="none" w="med" len="med"/>
                      <a:tailEnd type="none" w="med" len="med"/>
                    </a:lnR>
                    <a:lnT w="9525" cap="flat" cmpd="sng" algn="ctr">
                      <a:solidFill>
                        <a:srgbClr val="D5DCDA"/>
                      </a:solidFill>
                      <a:prstDash val="solid"/>
                      <a:round/>
                      <a:headEnd type="none" w="med" len="med"/>
                      <a:tailEnd type="none" w="med" len="med"/>
                    </a:lnT>
                    <a:lnB w="9525" cap="flat" cmpd="sng" algn="ctr">
                      <a:solidFill>
                        <a:srgbClr val="D5DCDA"/>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D1: project title and pitch in the README (pull request)</a:t>
                      </a:r>
                      <a:endParaRPr lang="en-US" sz="1300" dirty="0"/>
                    </a:p>
                  </a:txBody>
                  <a:tcPr marL="73152" marR="73152" marT="73152" marB="73152" anchor="ctr">
                    <a:lnL w="9525" cap="flat" cmpd="sng" algn="ctr">
                      <a:solidFill>
                        <a:srgbClr val="D5DCDA"/>
                      </a:solidFill>
                      <a:prstDash val="solid"/>
                      <a:round/>
                      <a:headEnd type="none" w="med" len="med"/>
                      <a:tailEnd type="none" w="med" len="med"/>
                    </a:lnL>
                    <a:lnR w="9525" cap="flat" cmpd="sng" algn="ctr">
                      <a:solidFill>
                        <a:srgbClr val="D5DCDA"/>
                      </a:solidFill>
                      <a:prstDash val="solid"/>
                      <a:round/>
                      <a:headEnd type="none" w="med" len="med"/>
                      <a:tailEnd type="none" w="med" len="med"/>
                    </a:lnR>
                    <a:lnT w="9525" cap="flat" cmpd="sng" algn="ctr">
                      <a:solidFill>
                        <a:srgbClr val="D5DCDA"/>
                      </a:solidFill>
                      <a:prstDash val="solid"/>
                      <a:round/>
                      <a:headEnd type="none" w="med" len="med"/>
                      <a:tailEnd type="none" w="med" len="med"/>
                    </a:lnT>
                    <a:lnB w="9525" cap="flat" cmpd="sng" algn="ctr">
                      <a:solidFill>
                        <a:srgbClr val="D5DCDA"/>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chemeClr val="tx1"/>
                          </a:solidFill>
                        </a:rPr>
                        <a:t>22 Oct</a:t>
                      </a:r>
                      <a:endParaRPr lang="en-US" sz="1300" dirty="0"/>
                    </a:p>
                  </a:txBody>
                  <a:tcPr marL="73152" marR="73152" marT="73152" marB="73152" anchor="ctr">
                    <a:lnL w="9525" cap="flat" cmpd="sng" algn="ctr">
                      <a:solidFill>
                        <a:srgbClr val="D5DCDA"/>
                      </a:solidFill>
                      <a:prstDash val="solid"/>
                      <a:round/>
                      <a:headEnd type="none" w="med" len="med"/>
                      <a:tailEnd type="none" w="med" len="med"/>
                    </a:lnL>
                    <a:lnR w="9525" cap="flat" cmpd="sng" algn="ctr">
                      <a:solidFill>
                        <a:srgbClr val="D5DCDA"/>
                      </a:solidFill>
                      <a:prstDash val="solid"/>
                      <a:round/>
                      <a:headEnd type="none" w="med" len="med"/>
                      <a:tailEnd type="none" w="med" len="med"/>
                    </a:lnR>
                    <a:lnT w="9525" cap="flat" cmpd="sng" algn="ctr">
                      <a:solidFill>
                        <a:srgbClr val="D5DCDA"/>
                      </a:solidFill>
                      <a:prstDash val="solid"/>
                      <a:round/>
                      <a:headEnd type="none" w="med" len="med"/>
                      <a:tailEnd type="none" w="med" len="med"/>
                    </a:lnT>
                    <a:lnB w="9525" cap="flat" cmpd="sng" algn="ctr">
                      <a:solidFill>
                        <a:srgbClr val="D5DCDA"/>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D2: problem statement and SMART goals</a:t>
                      </a:r>
                      <a:endParaRPr lang="en-US" sz="1300" dirty="0"/>
                    </a:p>
                  </a:txBody>
                  <a:tcPr marL="73152" marR="73152" marT="73152" marB="73152" anchor="ctr">
                    <a:lnL w="9525" cap="flat" cmpd="sng" algn="ctr">
                      <a:solidFill>
                        <a:srgbClr val="D5DCDA"/>
                      </a:solidFill>
                      <a:prstDash val="solid"/>
                      <a:round/>
                      <a:headEnd type="none" w="med" len="med"/>
                      <a:tailEnd type="none" w="med" len="med"/>
                    </a:lnL>
                    <a:lnR w="9525" cap="flat" cmpd="sng" algn="ctr">
                      <a:solidFill>
                        <a:srgbClr val="D5DCDA"/>
                      </a:solidFill>
                      <a:prstDash val="solid"/>
                      <a:round/>
                      <a:headEnd type="none" w="med" len="med"/>
                      <a:tailEnd type="none" w="med" len="med"/>
                    </a:lnR>
                    <a:lnT w="9525" cap="flat" cmpd="sng" algn="ctr">
                      <a:solidFill>
                        <a:srgbClr val="D5DCDA"/>
                      </a:solidFill>
                      <a:prstDash val="solid"/>
                      <a:round/>
                      <a:headEnd type="none" w="med" len="med"/>
                      <a:tailEnd type="none" w="med" len="med"/>
                    </a:lnT>
                    <a:lnB w="9525" cap="flat" cmpd="sng" algn="ctr">
                      <a:solidFill>
                        <a:srgbClr val="D5DCDA"/>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chemeClr val="tx1"/>
                          </a:solidFill>
                        </a:rPr>
                        <a:t>End of Oct</a:t>
                      </a:r>
                      <a:endParaRPr lang="en-US" sz="1300" dirty="0"/>
                    </a:p>
                  </a:txBody>
                  <a:tcPr marL="73152" marR="73152" marT="73152" marB="73152" anchor="ctr">
                    <a:lnL w="9525" cap="flat" cmpd="sng" algn="ctr">
                      <a:solidFill>
                        <a:srgbClr val="D5DCDA"/>
                      </a:solidFill>
                      <a:prstDash val="solid"/>
                      <a:round/>
                      <a:headEnd type="none" w="med" len="med"/>
                      <a:tailEnd type="none" w="med" len="med"/>
                    </a:lnL>
                    <a:lnR w="9525" cap="flat" cmpd="sng" algn="ctr">
                      <a:solidFill>
                        <a:srgbClr val="D5DCDA"/>
                      </a:solidFill>
                      <a:prstDash val="solid"/>
                      <a:round/>
                      <a:headEnd type="none" w="med" len="med"/>
                      <a:tailEnd type="none" w="med" len="med"/>
                    </a:lnR>
                    <a:lnT w="9525" cap="flat" cmpd="sng" algn="ctr">
                      <a:solidFill>
                        <a:srgbClr val="D5DCDA"/>
                      </a:solidFill>
                      <a:prstDash val="solid"/>
                      <a:round/>
                      <a:headEnd type="none" w="med" len="med"/>
                      <a:tailEnd type="none" w="med" len="med"/>
                    </a:lnT>
                    <a:lnB w="9525" cap="flat" cmpd="sng" algn="ctr">
                      <a:solidFill>
                        <a:srgbClr val="D5DCDA"/>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Load and check the data, set up the environment, first EDA notebook</a:t>
                      </a:r>
                      <a:endParaRPr lang="en-US" sz="1300" dirty="0"/>
                    </a:p>
                  </a:txBody>
                  <a:tcPr marL="73152" marR="73152" marT="73152" marB="73152" anchor="ctr">
                    <a:lnL w="9525" cap="flat" cmpd="sng" algn="ctr">
                      <a:solidFill>
                        <a:srgbClr val="D5DCDA"/>
                      </a:solidFill>
                      <a:prstDash val="solid"/>
                      <a:round/>
                      <a:headEnd type="none" w="med" len="med"/>
                      <a:tailEnd type="none" w="med" len="med"/>
                    </a:lnL>
                    <a:lnR w="9525" cap="flat" cmpd="sng" algn="ctr">
                      <a:solidFill>
                        <a:srgbClr val="D5DCDA"/>
                      </a:solidFill>
                      <a:prstDash val="solid"/>
                      <a:round/>
                      <a:headEnd type="none" w="med" len="med"/>
                      <a:tailEnd type="none" w="med" len="med"/>
                    </a:lnR>
                    <a:lnT w="9525" cap="flat" cmpd="sng" algn="ctr">
                      <a:solidFill>
                        <a:srgbClr val="D5DCDA"/>
                      </a:solidFill>
                      <a:prstDash val="solid"/>
                      <a:round/>
                      <a:headEnd type="none" w="med" len="med"/>
                      <a:tailEnd type="none" w="med" len="med"/>
                    </a:lnT>
                    <a:lnB w="9525" cap="flat" cmpd="sng" algn="ctr">
                      <a:solidFill>
                        <a:srgbClr val="D5DCDA"/>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chemeClr val="tx1"/>
                          </a:solidFill>
                        </a:rPr>
                        <a:t>12 Nov</a:t>
                      </a:r>
                      <a:endParaRPr lang="en-US" sz="1300" dirty="0"/>
                    </a:p>
                  </a:txBody>
                  <a:tcPr marL="73152" marR="73152" marT="73152" marB="73152" anchor="ctr">
                    <a:lnL w="9525" cap="flat" cmpd="sng" algn="ctr">
                      <a:solidFill>
                        <a:srgbClr val="D5DCDA"/>
                      </a:solidFill>
                      <a:prstDash val="solid"/>
                      <a:round/>
                      <a:headEnd type="none" w="med" len="med"/>
                      <a:tailEnd type="none" w="med" len="med"/>
                    </a:lnL>
                    <a:lnR w="9525" cap="flat" cmpd="sng" algn="ctr">
                      <a:solidFill>
                        <a:srgbClr val="D5DCDA"/>
                      </a:solidFill>
                      <a:prstDash val="solid"/>
                      <a:round/>
                      <a:headEnd type="none" w="med" len="med"/>
                      <a:tailEnd type="none" w="med" len="med"/>
                    </a:lnR>
                    <a:lnT w="9525" cap="flat" cmpd="sng" algn="ctr">
                      <a:solidFill>
                        <a:srgbClr val="D5DCDA"/>
                      </a:solidFill>
                      <a:prstDash val="solid"/>
                      <a:round/>
                      <a:headEnd type="none" w="med" len="med"/>
                      <a:tailEnd type="none" w="med" len="med"/>
                    </a:lnT>
                    <a:lnB w="9525" cap="flat" cmpd="sng" algn="ctr">
                      <a:solidFill>
                        <a:srgbClr val="D5DCDA"/>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D3: data sources and EDA</a:t>
                      </a:r>
                      <a:endParaRPr lang="en-US" sz="1300" dirty="0"/>
                    </a:p>
                  </a:txBody>
                  <a:tcPr marL="73152" marR="73152" marT="73152" marB="73152" anchor="ctr">
                    <a:lnL w="9525" cap="flat" cmpd="sng" algn="ctr">
                      <a:solidFill>
                        <a:srgbClr val="D5DCDA"/>
                      </a:solidFill>
                      <a:prstDash val="solid"/>
                      <a:round/>
                      <a:headEnd type="none" w="med" len="med"/>
                      <a:tailEnd type="none" w="med" len="med"/>
                    </a:lnL>
                    <a:lnR w="9525" cap="flat" cmpd="sng" algn="ctr">
                      <a:solidFill>
                        <a:srgbClr val="D5DCDA"/>
                      </a:solidFill>
                      <a:prstDash val="solid"/>
                      <a:round/>
                      <a:headEnd type="none" w="med" len="med"/>
                      <a:tailEnd type="none" w="med" len="med"/>
                    </a:lnR>
                    <a:lnT w="9525" cap="flat" cmpd="sng" algn="ctr">
                      <a:solidFill>
                        <a:srgbClr val="D5DCDA"/>
                      </a:solidFill>
                      <a:prstDash val="solid"/>
                      <a:round/>
                      <a:headEnd type="none" w="med" len="med"/>
                      <a:tailEnd type="none" w="med" len="med"/>
                    </a:lnT>
                    <a:lnB w="9525" cap="flat" cmpd="sng" algn="ctr">
                      <a:solidFill>
                        <a:srgbClr val="D5DCDA"/>
                      </a:solidFill>
                      <a:prstDash val="solid"/>
                      <a:round/>
                      <a:headEnd type="none" w="med" len="med"/>
                      <a:tailEnd type="none" w="med" len="med"/>
                    </a:lnB>
                    <a:solidFill>
                      <a:srgbClr val="FFFFFF"/>
                    </a:solidFill>
                  </a:tcPr>
                </a:tc>
              </a:tr>
            </a:tbl>
          </a:graphicData>
        </a:graphic>
      </p:graphicFrame>
      <p:sp>
        <p:nvSpPr>
          <p:cNvPr id="4" name="Split box"/>
          <p:cNvSpPr/>
          <p:nvPr/>
        </p:nvSpPr>
        <p:spPr>
          <a:xfrm>
            <a:off x="548640" y="4251960"/>
            <a:ext cx="6035040" cy="1005840"/>
          </a:xfrm>
          <a:prstGeom prst="roundRect">
            <a:avLst>
              <a:gd name="adj" fmla="val 9091"/>
            </a:avLst>
          </a:prstGeom>
          <a:solidFill>
            <a:schemeClr val="accent5"/>
          </a:solidFill>
          <a:ln w="12700">
            <a:solidFill>
              <a:schemeClr val="accent5"/>
            </a:solidFill>
            <a:prstDash val="solid"/>
          </a:ln>
        </p:spPr>
      </p:sp>
      <p:sp>
        <p:nvSpPr>
          <p:cNvPr id="5" name="Split text"/>
          <p:cNvSpPr txBox="1"/>
          <p:nvPr/>
        </p:nvSpPr>
        <p:spPr>
          <a:xfrm>
            <a:off x="777240" y="4343400"/>
            <a:ext cx="5577840" cy="822960"/>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Proposed split</a:t>
            </a:r>
            <a:endParaRPr lang="en-US" sz="1500" dirty="0"/>
          </a:p>
          <a:p>
            <a:pPr indent="0" marL="0">
              <a:spcBef>
                <a:spcPts val="400"/>
              </a:spcBef>
              <a:buNone/>
            </a:pPr>
            <a:r>
              <a:rPr lang="en-US" sz="1300" dirty="0">
                <a:solidFill>
                  <a:schemeClr val="tx2"/>
                </a:solidFill>
              </a:rPr>
              <a:t>Elias: data sourcing and modelling · Flurin: analysis and visualisation</a:t>
            </a:r>
            <a:endParaRPr lang="en-US" sz="1500" dirty="0"/>
          </a:p>
        </p:txBody>
      </p:sp>
      <p:sp>
        <p:nvSpPr>
          <p:cNvPr id="6" name="Questions card"/>
          <p:cNvSpPr/>
          <p:nvPr/>
        </p:nvSpPr>
        <p:spPr>
          <a:xfrm>
            <a:off x="6949440" y="1325880"/>
            <a:ext cx="4690872" cy="3931920"/>
          </a:xfrm>
          <a:prstGeom prst="roundRect">
            <a:avLst>
              <a:gd name="adj" fmla="val 2791"/>
            </a:avLst>
          </a:prstGeom>
          <a:solidFill>
            <a:schemeClr val="tx1"/>
          </a:solidFill>
          <a:ln w="12700">
            <a:solidFill>
              <a:schemeClr val="tx1"/>
            </a:solidFill>
            <a:prstDash val="solid"/>
          </a:ln>
        </p:spPr>
      </p:sp>
      <p:sp>
        <p:nvSpPr>
          <p:cNvPr id="7" name="Questions title"/>
          <p:cNvSpPr txBox="1"/>
          <p:nvPr/>
        </p:nvSpPr>
        <p:spPr>
          <a:xfrm>
            <a:off x="7269480" y="1554480"/>
            <a:ext cx="4050792" cy="457200"/>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Questions for you</a:t>
            </a:r>
            <a:endParaRPr lang="en-US" sz="2000" dirty="0"/>
          </a:p>
        </p:txBody>
      </p:sp>
      <p:sp>
        <p:nvSpPr>
          <p:cNvPr id="8" name="Questions list"/>
          <p:cNvSpPr txBox="1"/>
          <p:nvPr/>
        </p:nvSpPr>
        <p:spPr>
          <a:xfrm>
            <a:off x="7269480" y="2148840"/>
            <a:ext cx="4050792" cy="29260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300" dirty="0">
                <a:solidFill>
                  <a:schemeClr val="bg1"/>
                </a:solidFill>
              </a:rPr>
              <a:t>Is TimesFM fine as a benchmark next to SARIMAX, or out of scope given the course’s “no foundation models” rule?</a:t>
            </a:r>
            <a:endParaRPr lang="en-US" sz="1300" dirty="0"/>
          </a:p>
          <a:p>
            <a:pPr marL="342900" indent="-342900">
              <a:spcAft>
                <a:spcPts val="800"/>
              </a:spcAft>
              <a:buSzPct val="100000"/>
              <a:buFont typeface="+mj-lt"/>
              <a:buAutoNum type="arabicPeriod" startAt="1"/>
            </a:pPr>
            <a:r>
              <a:rPr lang="en-US" sz="1300" dirty="0">
                <a:solidFill>
                  <a:schemeClr val="bg1"/>
                </a:solidFill>
              </a:rPr>
              <a:t>One focused research question, or may we add related ones (untapped potential, winter share)?</a:t>
            </a:r>
            <a:endParaRPr lang="en-US" sz="1300" dirty="0"/>
          </a:p>
          <a:p>
            <a:pPr marL="342900" indent="-342900">
              <a:spcAft>
                <a:spcPts val="800"/>
              </a:spcAft>
              <a:buSzPct val="100000"/>
              <a:buFont typeface="+mj-lt"/>
              <a:buAutoNum type="arabicPeriod" startAt="1"/>
            </a:pPr>
            <a:r>
              <a:rPr lang="en-US" sz="1300" dirty="0">
                <a:solidFill>
                  <a:schemeClr val="bg1"/>
                </a:solidFill>
              </a:rPr>
              <a:t>Forecast target: the measured national solar series or a modelled Lucerne series?</a:t>
            </a:r>
            <a:endParaRPr lang="en-US" sz="1300" dirty="0"/>
          </a:p>
          <a:p>
            <a:pPr marL="342900" indent="-342900">
              <a:spcAft>
                <a:spcPts val="800"/>
              </a:spcAft>
              <a:buSzPct val="100000"/>
              <a:buFont typeface="+mj-lt"/>
              <a:buAutoNum type="arabicPeriod" startAt="1"/>
            </a:pPr>
            <a:r>
              <a:rPr lang="en-US" sz="1300" dirty="0">
                <a:solidFill>
                  <a:schemeClr val="bg1"/>
                </a:solidFill>
              </a:rPr>
              <a:t>Start with Canton Lucerne and extend to other cantons later?</a:t>
            </a:r>
            <a:endParaRPr lang="en-US" sz="1300" dirty="0"/>
          </a:p>
          <a:p>
            <a:pPr marL="342900" indent="-342900">
              <a:spcAft>
                <a:spcPts val="800"/>
              </a:spcAft>
              <a:buSzPct val="100000"/>
              <a:buFont typeface="+mj-lt"/>
              <a:buAutoNum type="arabicPeriod" startAt="1"/>
            </a:pPr>
            <a:r>
              <a:rPr lang="en-US" sz="1300" dirty="0">
                <a:solidFill>
                  <a:schemeClr val="bg1"/>
                </a:solidFill>
              </a:rPr>
              <a:t>Our group number for the repo name (dspro01_hs26_groupXX)?</a:t>
            </a:r>
            <a:endParaRPr lang="en-US" sz="1300" dirty="0"/>
          </a:p>
        </p:txBody>
      </p:sp>
      <p:sp>
        <p:nvSpPr>
          <p:cNvPr id="9" name="Sources"/>
          <p:cNvSpPr txBox="1"/>
          <p:nvPr/>
        </p:nvSpPr>
        <p:spPr>
          <a:xfrm>
            <a:off x="548640" y="5989320"/>
            <a:ext cx="11091672" cy="274320"/>
          </a:xfrm>
          <a:prstGeom prst="rect">
            <a:avLst/>
          </a:prstGeom>
          <a:noFill/>
          <a:ln/>
        </p:spPr>
        <p:txBody>
          <a:bodyPr wrap="square" lIns="0" tIns="0" rIns="0" bIns="0" rtlCol="0" anchor="ctr"/>
          <a:lstStyle/>
          <a:p>
            <a:pPr indent="0" marL="0">
              <a:buNone/>
            </a:pPr>
            <a:r>
              <a:rPr lang="en-US" sz="1000" dirty="0">
                <a:solidFill>
                  <a:schemeClr val="accent3"/>
                </a:solidFill>
              </a:rPr>
              <a:t>Deadlines from the course template README (github.com/curdon/dspro01_hs26_template).</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6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References</a:t>
            </a:r>
            <a:endParaRPr lang="en-US" sz="3600" dirty="0"/>
          </a:p>
        </p:txBody>
      </p:sp>
      <p:sp>
        <p:nvSpPr>
          <p:cNvPr id="3" name="References data"/>
          <p:cNvSpPr txBox="1"/>
          <p:nvPr/>
        </p:nvSpPr>
        <p:spPr>
          <a:xfrm>
            <a:off x="548640" y="1325880"/>
            <a:ext cx="5394960" cy="448056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latin typeface="+mj-lt" pitchFamily="34" charset="0"/>
                <a:ea typeface="+mj-lt" pitchFamily="34" charset="-122"/>
                <a:cs typeface="+mj-lt" pitchFamily="34" charset="-120"/>
              </a:rPr>
              <a:t>Data</a:t>
            </a:r>
            <a:endParaRPr lang="en-US" sz="1200" dirty="0"/>
          </a:p>
          <a:p>
            <a:pPr indent="0" marL="0">
              <a:buNone/>
            </a:pPr>
            <a:r>
              <a:rPr lang="en-US" sz="1200" b="1" dirty="0">
                <a:solidFill>
                  <a:schemeClr val="tx1"/>
                </a:solidFill>
              </a:rPr>
              <a:t>[1] </a:t>
            </a:r>
            <a:pPr indent="0" marL="0">
              <a:buNone/>
            </a:pPr>
            <a:r>
              <a:rPr lang="en-US" sz="1200" dirty="0">
                <a:solidFill>
                  <a:schemeClr val="tx1"/>
                </a:solidFill>
              </a:rPr>
              <a:t>Swiss Federal Office of Energy (SFOE). (2026). </a:t>
            </a:r>
            <a:pPr indent="0" marL="0">
              <a:buNone/>
            </a:pPr>
            <a:r>
              <a:rPr lang="en-US" sz="1200" i="1" dirty="0">
                <a:solidFill>
                  <a:schemeClr val="tx1"/>
                </a:solidFill>
              </a:rPr>
              <a:t>Elektrizitätsproduktionsanlagen</a:t>
            </a:r>
            <a:pPr indent="0" marL="0">
              <a:spcAft>
                <a:spcPts val="600"/>
              </a:spcAft>
              <a:buNone/>
            </a:pPr>
            <a:r>
              <a:rPr lang="en-US" sz="1200" dirty="0">
                <a:solidFill>
                  <a:schemeClr val="tx1"/>
                </a:solidFill>
              </a:rPr>
              <a:t> [Data set]. opendata.swiss. Updated 24.09.2026.</a:t>
            </a:r>
            <a:endParaRPr lang="en-US" sz="1200" dirty="0"/>
          </a:p>
          <a:p>
            <a:pPr indent="0" marL="0">
              <a:buNone/>
            </a:pPr>
            <a:r>
              <a:rPr lang="en-US" sz="1200" b="1" dirty="0">
                <a:solidFill>
                  <a:schemeClr val="tx1"/>
                </a:solidFill>
              </a:rPr>
              <a:t>[2] </a:t>
            </a:r>
            <a:pPr indent="0" marL="0">
              <a:buNone/>
            </a:pPr>
            <a:r>
              <a:rPr lang="en-US" sz="1200" dirty="0">
                <a:solidFill>
                  <a:schemeClr val="tx1"/>
                </a:solidFill>
              </a:rPr>
              <a:t>SFOE. (2026). </a:t>
            </a:r>
            <a:pPr indent="0" marL="0">
              <a:buNone/>
            </a:pPr>
            <a:r>
              <a:rPr lang="en-US" sz="1200" i="1" dirty="0">
                <a:solidFill>
                  <a:schemeClr val="tx1"/>
                </a:solidFill>
              </a:rPr>
              <a:t>Solarenergiepotenziale der Schweizer Gemeinden – Dächer und Fassaden</a:t>
            </a:r>
            <a:pPr indent="0" marL="0">
              <a:spcAft>
                <a:spcPts val="600"/>
              </a:spcAft>
              <a:buNone/>
            </a:pPr>
            <a:r>
              <a:rPr lang="en-US" sz="1200" dirty="0">
                <a:solidFill>
                  <a:schemeClr val="tx1"/>
                </a:solidFill>
              </a:rPr>
              <a:t> [Data set]. bfe-ogd.ch.</a:t>
            </a:r>
            <a:endParaRPr lang="en-US" sz="1200" dirty="0"/>
          </a:p>
          <a:p>
            <a:pPr indent="0" marL="0">
              <a:buNone/>
            </a:pPr>
            <a:r>
              <a:rPr lang="en-US" sz="1200" b="1" dirty="0">
                <a:solidFill>
                  <a:schemeClr val="tx1"/>
                </a:solidFill>
              </a:rPr>
              <a:t>[3] </a:t>
            </a:r>
            <a:pPr indent="0" marL="0">
              <a:buNone/>
            </a:pPr>
            <a:r>
              <a:rPr lang="en-US" sz="1200" dirty="0">
                <a:solidFill>
                  <a:schemeClr val="tx1"/>
                </a:solidFill>
              </a:rPr>
              <a:t>SFOE. (2019). </a:t>
            </a:r>
            <a:pPr indent="0" marL="0">
              <a:buNone/>
            </a:pPr>
            <a:r>
              <a:rPr lang="en-US" sz="1200" i="1" dirty="0">
                <a:solidFill>
                  <a:schemeClr val="tx1"/>
                </a:solidFill>
              </a:rPr>
              <a:t>Studie Winterstrom aus Photovoltaik – Produktionsprofile aller Schweizer Gemeinden</a:t>
            </a:r>
            <a:pPr indent="0" marL="0">
              <a:spcAft>
                <a:spcPts val="600"/>
              </a:spcAft>
              <a:buNone/>
            </a:pPr>
            <a:r>
              <a:rPr lang="en-US" sz="1200" dirty="0">
                <a:solidFill>
                  <a:schemeClr val="tx1"/>
                </a:solidFill>
              </a:rPr>
              <a:t> [Data set]. opendata.swiss.</a:t>
            </a:r>
            <a:endParaRPr lang="en-US" sz="1200" dirty="0"/>
          </a:p>
          <a:p>
            <a:pPr indent="0" marL="0">
              <a:buNone/>
            </a:pPr>
            <a:r>
              <a:rPr lang="en-US" sz="1200" b="1" dirty="0">
                <a:solidFill>
                  <a:schemeClr val="tx1"/>
                </a:solidFill>
              </a:rPr>
              <a:t>[4] </a:t>
            </a:r>
            <a:pPr indent="0" marL="0">
              <a:buNone/>
            </a:pPr>
            <a:r>
              <a:rPr lang="en-US" sz="1200" dirty="0">
                <a:solidFill>
                  <a:schemeClr val="tx1"/>
                </a:solidFill>
              </a:rPr>
              <a:t>MeteoSwiss. (2026). </a:t>
            </a:r>
            <a:pPr indent="0" marL="0">
              <a:buNone/>
            </a:pPr>
            <a:r>
              <a:rPr lang="en-US" sz="1200" i="1" dirty="0">
                <a:solidFill>
                  <a:schemeClr val="tx1"/>
                </a:solidFill>
              </a:rPr>
              <a:t>SwissMetNet open data, station Luzern (LUZ)</a:t>
            </a:r>
            <a:pPr indent="0" marL="0">
              <a:spcAft>
                <a:spcPts val="600"/>
              </a:spcAft>
              <a:buNone/>
            </a:pPr>
            <a:r>
              <a:rPr lang="en-US" sz="1200" dirty="0">
                <a:solidFill>
                  <a:schemeClr val="tx1"/>
                </a:solidFill>
              </a:rPr>
              <a:t> [Data set]. data.geo.admin.ch. Source: MeteoSwiss.</a:t>
            </a:r>
            <a:endParaRPr lang="en-US" sz="1200" dirty="0"/>
          </a:p>
          <a:p>
            <a:pPr indent="0" marL="0">
              <a:buNone/>
            </a:pPr>
            <a:r>
              <a:rPr lang="en-US" sz="1200" b="1" dirty="0">
                <a:solidFill>
                  <a:schemeClr val="tx1"/>
                </a:solidFill>
              </a:rPr>
              <a:t>[5] </a:t>
            </a:r>
            <a:pPr indent="0" marL="0">
              <a:buNone/>
            </a:pPr>
            <a:r>
              <a:rPr lang="en-US" sz="1200" dirty="0">
                <a:solidFill>
                  <a:schemeClr val="tx1"/>
                </a:solidFill>
              </a:rPr>
              <a:t>Fraunhofer ISE. (2026). </a:t>
            </a:r>
            <a:pPr indent="0" marL="0">
              <a:buNone/>
            </a:pPr>
            <a:r>
              <a:rPr lang="en-US" sz="1200" i="1" dirty="0">
                <a:solidFill>
                  <a:schemeClr val="tx1"/>
                </a:solidFill>
              </a:rPr>
              <a:t>Energy-Charts: Public net electricity generation in Switzerland</a:t>
            </a:r>
            <a:pPr indent="0" marL="0">
              <a:spcAft>
                <a:spcPts val="600"/>
              </a:spcAft>
              <a:buNone/>
            </a:pPr>
            <a:r>
              <a:rPr lang="en-US" sz="1200" dirty="0">
                <a:solidFill>
                  <a:schemeClr val="tx1"/>
                </a:solidFill>
              </a:rPr>
              <a:t> [API]. api.energy-charts.info.</a:t>
            </a:r>
            <a:endParaRPr lang="en-US" sz="1200" dirty="0"/>
          </a:p>
        </p:txBody>
      </p:sp>
      <p:sp>
        <p:nvSpPr>
          <p:cNvPr id="4" name="References methods"/>
          <p:cNvSpPr txBox="1"/>
          <p:nvPr/>
        </p:nvSpPr>
        <p:spPr>
          <a:xfrm>
            <a:off x="6245352" y="1325880"/>
            <a:ext cx="5394960" cy="448056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latin typeface="+mj-lt" pitchFamily="34" charset="0"/>
                <a:ea typeface="+mj-lt" pitchFamily="34" charset="-122"/>
                <a:cs typeface="+mj-lt" pitchFamily="34" charset="-120"/>
              </a:rPr>
              <a:t>Methods and context</a:t>
            </a:r>
            <a:endParaRPr lang="en-US" sz="1200" dirty="0"/>
          </a:p>
          <a:p>
            <a:pPr indent="0" marL="0">
              <a:buNone/>
            </a:pPr>
            <a:r>
              <a:rPr lang="en-US" sz="1200" b="1" dirty="0">
                <a:solidFill>
                  <a:schemeClr val="tx1"/>
                </a:solidFill>
              </a:rPr>
              <a:t>[6] </a:t>
            </a:r>
            <a:pPr indent="0" marL="0">
              <a:buNone/>
            </a:pPr>
            <a:r>
              <a:rPr lang="en-US" sz="1200" dirty="0">
                <a:solidFill>
                  <a:schemeClr val="tx1"/>
                </a:solidFill>
              </a:rPr>
              <a:t>Shumway, R. H., &amp; Stoffer, D. S. (2017). </a:t>
            </a:r>
            <a:pPr indent="0" marL="0">
              <a:buNone/>
            </a:pPr>
            <a:r>
              <a:rPr lang="en-US" sz="1200" i="1" dirty="0">
                <a:solidFill>
                  <a:schemeClr val="tx1"/>
                </a:solidFill>
              </a:rPr>
              <a:t>Time series analysis and its applications: With R examples</a:t>
            </a:r>
            <a:pPr indent="0" marL="0">
              <a:spcAft>
                <a:spcPts val="600"/>
              </a:spcAft>
              <a:buNone/>
            </a:pPr>
            <a:r>
              <a:rPr lang="en-US" sz="1200" dirty="0">
                <a:solidFill>
                  <a:schemeClr val="tx1"/>
                </a:solidFill>
              </a:rPr>
              <a:t> (4th ed.). Springer.</a:t>
            </a:r>
            <a:endParaRPr lang="en-US" sz="1200" dirty="0"/>
          </a:p>
          <a:p>
            <a:pPr indent="0" marL="0">
              <a:buNone/>
            </a:pPr>
            <a:r>
              <a:rPr lang="en-US" sz="1200" b="1" dirty="0">
                <a:solidFill>
                  <a:schemeClr val="tx1"/>
                </a:solidFill>
              </a:rPr>
              <a:t>[7] </a:t>
            </a:r>
            <a:pPr indent="0" marL="0">
              <a:buNone/>
            </a:pPr>
            <a:r>
              <a:rPr lang="en-US" sz="1200" dirty="0">
                <a:solidFill>
                  <a:schemeClr val="tx1"/>
                </a:solidFill>
              </a:rPr>
              <a:t>Seabold, S., &amp; Perktold, J. (2010). statsmodels: Econometric and statistical modeling with Python. </a:t>
            </a:r>
            <a:pPr indent="0" marL="0">
              <a:buNone/>
            </a:pPr>
            <a:r>
              <a:rPr lang="en-US" sz="1200" i="1" dirty="0">
                <a:solidFill>
                  <a:schemeClr val="tx1"/>
                </a:solidFill>
              </a:rPr>
              <a:t>Proceedings of the 9th Python in Science Conference</a:t>
            </a:r>
            <a:pPr indent="0" marL="0">
              <a:spcAft>
                <a:spcPts val="600"/>
              </a:spcAft>
              <a:buNone/>
            </a:pPr>
            <a:r>
              <a:rPr lang="en-US" sz="1200" dirty="0">
                <a:solidFill>
                  <a:schemeClr val="tx1"/>
                </a:solidFill>
              </a:rPr>
              <a:t>.</a:t>
            </a:r>
            <a:endParaRPr lang="en-US" sz="1200" dirty="0"/>
          </a:p>
          <a:p>
            <a:pPr indent="0" marL="0">
              <a:buNone/>
            </a:pPr>
            <a:r>
              <a:rPr lang="en-US" sz="1200" b="1" dirty="0">
                <a:solidFill>
                  <a:schemeClr val="tx1"/>
                </a:solidFill>
              </a:rPr>
              <a:t>[8] </a:t>
            </a:r>
            <a:pPr indent="0" marL="0">
              <a:buNone/>
            </a:pPr>
            <a:r>
              <a:rPr lang="en-US" sz="1200" dirty="0">
                <a:solidFill>
                  <a:schemeClr val="tx1"/>
                </a:solidFill>
              </a:rPr>
              <a:t>Das, A., Kong, W., Sen, R., &amp; Zhou, Y. (2024). A decoder-only foundation model for time-series forecasting. </a:t>
            </a:r>
            <a:pPr indent="0" marL="0">
              <a:buNone/>
            </a:pPr>
            <a:r>
              <a:rPr lang="en-US" sz="1200" i="1" dirty="0">
                <a:solidFill>
                  <a:schemeClr val="tx1"/>
                </a:solidFill>
              </a:rPr>
              <a:t>ICML 2024</a:t>
            </a:r>
            <a:pPr indent="0" marL="0">
              <a:spcAft>
                <a:spcPts val="600"/>
              </a:spcAft>
              <a:buNone/>
            </a:pPr>
            <a:r>
              <a:rPr lang="en-US" sz="1200" dirty="0">
                <a:solidFill>
                  <a:schemeClr val="tx1"/>
                </a:solidFill>
              </a:rPr>
              <a:t>. arXiv:2310.10688.</a:t>
            </a:r>
            <a:endParaRPr lang="en-US" sz="1200" dirty="0"/>
          </a:p>
          <a:p>
            <a:pPr indent="0" marL="0">
              <a:buNone/>
            </a:pPr>
            <a:r>
              <a:rPr lang="en-US" sz="1200" b="1" dirty="0">
                <a:solidFill>
                  <a:schemeClr val="tx1"/>
                </a:solidFill>
              </a:rPr>
              <a:t>[9] </a:t>
            </a:r>
            <a:pPr indent="0" marL="0">
              <a:buNone/>
            </a:pPr>
            <a:r>
              <a:rPr lang="en-US" sz="1200" dirty="0">
                <a:solidFill>
                  <a:schemeClr val="tx1"/>
                </a:solidFill>
              </a:rPr>
              <a:t>Holmgren, W. F., Hansen, C. W., &amp; Mikofski, M. A. (2018). pvlib python: A python package for modeling solar energy systems. </a:t>
            </a:r>
            <a:pPr indent="0" marL="0">
              <a:buNone/>
            </a:pPr>
            <a:r>
              <a:rPr lang="en-US" sz="1200" i="1" dirty="0">
                <a:solidFill>
                  <a:schemeClr val="tx1"/>
                </a:solidFill>
              </a:rPr>
              <a:t>Journal of Open Source Software, 3</a:t>
            </a:r>
            <a:pPr indent="0" marL="0">
              <a:spcAft>
                <a:spcPts val="600"/>
              </a:spcAft>
              <a:buNone/>
            </a:pPr>
            <a:r>
              <a:rPr lang="en-US" sz="1200" dirty="0">
                <a:solidFill>
                  <a:schemeClr val="tx1"/>
                </a:solidFill>
              </a:rPr>
              <a:t>(29), 884.</a:t>
            </a:r>
            <a:endParaRPr lang="en-US" sz="1200" dirty="0"/>
          </a:p>
          <a:p>
            <a:pPr indent="0" marL="0">
              <a:buNone/>
            </a:pPr>
            <a:r>
              <a:rPr lang="en-US" sz="1200" b="1" dirty="0">
                <a:solidFill>
                  <a:schemeClr val="tx1"/>
                </a:solidFill>
              </a:rPr>
              <a:t>[10] </a:t>
            </a:r>
            <a:pPr indent="0" marL="0">
              <a:buNone/>
            </a:pPr>
            <a:r>
              <a:rPr lang="en-US" sz="1200" dirty="0">
                <a:solidFill>
                  <a:schemeClr val="tx1"/>
                </a:solidFill>
              </a:rPr>
              <a:t>Hyndman, R. J., &amp; Athanasopoulos, G. (2021). </a:t>
            </a:r>
            <a:pPr indent="0" marL="0">
              <a:buNone/>
            </a:pPr>
            <a:r>
              <a:rPr lang="en-US" sz="1200" i="1" dirty="0">
                <a:solidFill>
                  <a:schemeClr val="tx1"/>
                </a:solidFill>
              </a:rPr>
              <a:t>Forecasting: Principles and practice</a:t>
            </a:r>
            <a:pPr indent="0" marL="0">
              <a:spcAft>
                <a:spcPts val="600"/>
              </a:spcAft>
              <a:buNone/>
            </a:pPr>
            <a:r>
              <a:rPr lang="en-US" sz="1200" dirty="0">
                <a:solidFill>
                  <a:schemeClr val="tx1"/>
                </a:solidFill>
              </a:rPr>
              <a:t> (3rd ed.). OTexts.</a:t>
            </a:r>
            <a:endParaRPr lang="en-US" sz="1200" dirty="0"/>
          </a:p>
          <a:p>
            <a:pPr indent="0" marL="0">
              <a:buNone/>
            </a:pPr>
            <a:r>
              <a:rPr lang="en-US" sz="1200" b="1" dirty="0">
                <a:solidFill>
                  <a:schemeClr val="tx1"/>
                </a:solidFill>
              </a:rPr>
              <a:t>[11] </a:t>
            </a:r>
            <a:pPr indent="0" marL="0">
              <a:buNone/>
            </a:pPr>
            <a:r>
              <a:rPr lang="en-US" sz="1200" dirty="0">
                <a:solidFill>
                  <a:schemeClr val="tx1"/>
                </a:solidFill>
              </a:rPr>
              <a:t>United Nations. (n.d.). </a:t>
            </a:r>
            <a:pPr indent="0" marL="0">
              <a:buNone/>
            </a:pPr>
            <a:r>
              <a:rPr lang="en-US" sz="1200" i="1" dirty="0">
                <a:solidFill>
                  <a:schemeClr val="tx1"/>
                </a:solidFill>
              </a:rPr>
              <a:t>Goal 7, target 7.2</a:t>
            </a:r>
            <a:pPr indent="0" marL="0">
              <a:spcAft>
                <a:spcPts val="600"/>
              </a:spcAft>
              <a:buNone/>
            </a:pPr>
            <a:r>
              <a:rPr lang="en-US" sz="1200" dirty="0">
                <a:solidFill>
                  <a:schemeClr val="tx1"/>
                </a:solidFill>
              </a:rPr>
              <a:t>. sdgs.un.org/goals/goal7</a:t>
            </a:r>
            <a:endParaRPr lang="en-US" sz="1200" dirty="0"/>
          </a:p>
          <a:p>
            <a:pPr indent="0" marL="0">
              <a:buNone/>
            </a:pPr>
            <a:r>
              <a:rPr lang="en-US" sz="1200" b="1" dirty="0">
                <a:solidFill>
                  <a:schemeClr val="tx1"/>
                </a:solidFill>
              </a:rPr>
              <a:t>[12] </a:t>
            </a:r>
            <a:pPr indent="0" marL="0">
              <a:buNone/>
            </a:pPr>
            <a:r>
              <a:rPr lang="en-US" sz="1200" dirty="0">
                <a:solidFill>
                  <a:schemeClr val="tx1"/>
                </a:solidFill>
              </a:rPr>
              <a:t>Swissgrid. (n.d.). </a:t>
            </a:r>
            <a:pPr indent="0" marL="0">
              <a:buNone/>
            </a:pPr>
            <a:r>
              <a:rPr lang="en-US" sz="1200" i="1" dirty="0">
                <a:solidFill>
                  <a:schemeClr val="tx1"/>
                </a:solidFill>
              </a:rPr>
              <a:t>PV forecasting</a:t>
            </a:r>
            <a:pPr indent="0" marL="0">
              <a:spcAft>
                <a:spcPts val="600"/>
              </a:spcAft>
              <a:buNone/>
            </a:pPr>
            <a:r>
              <a:rPr lang="en-US" sz="1200" dirty="0">
                <a:solidFill>
                  <a:schemeClr val="tx1"/>
                </a:solidFill>
              </a:rPr>
              <a:t>. swissgrid.ch</a:t>
            </a:r>
            <a:endParaRPr lang="en-US" sz="1200" dirty="0"/>
          </a:p>
        </p:txBody>
      </p:sp>
      <p:sp>
        <p:nvSpPr>
          <p:cNvPr id="5" name="Sources"/>
          <p:cNvSpPr txBox="1"/>
          <p:nvPr/>
        </p:nvSpPr>
        <p:spPr>
          <a:xfrm>
            <a:off x="548640" y="5989320"/>
            <a:ext cx="11091672" cy="274320"/>
          </a:xfrm>
          <a:prstGeom prst="rect">
            <a:avLst/>
          </a:prstGeom>
          <a:noFill/>
          <a:ln/>
        </p:spPr>
        <p:txBody>
          <a:bodyPr wrap="square" lIns="0" tIns="0" rIns="0" bIns="0" rtlCol="0" anchor="ctr"/>
          <a:lstStyle/>
          <a:p>
            <a:pPr indent="0" marL="0">
              <a:buNone/>
            </a:pPr>
            <a:r>
              <a:rPr lang="en-US" sz="1000" dirty="0">
                <a:solidFill>
                  <a:schemeClr val="accent3"/>
                </a:solidFill>
              </a:rPr>
              <a:t>All links accessed on 8 Oct 2026. Figures marked “own count” are reproducible from [1].</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6A"/>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DSPRO Solar">
  <a:themeElements>
    <a:clrScheme name="DSPRO Solar">
      <a:dk1>
        <a:srgbClr val="1B2A2F"/>
      </a:dk1>
      <a:lt1>
        <a:srgbClr val="FFFFFF"/>
      </a:lt1>
      <a:dk2>
        <a:srgbClr val="243A40"/>
      </a:dk2>
      <a:lt2>
        <a:srgbClr val="F6F8F7"/>
      </a:lt2>
      <a:accent1>
        <a:srgbClr val="E0A030"/>
      </a:accent1>
      <a:accent2>
        <a:srgbClr val="2F6699"/>
      </a:accent2>
      <a:accent3>
        <a:srgbClr val="5A666A"/>
      </a:accent3>
      <a:accent4>
        <a:srgbClr val="C9D6D8"/>
      </a:accent4>
      <a:accent5>
        <a:srgbClr val="E6EEF5"/>
      </a:accent5>
      <a:accent6>
        <a:srgbClr val="F7ECD6"/>
      </a:accent6>
      <a:hlink>
        <a:srgbClr val="2F6699"/>
      </a:hlink>
      <a:folHlink>
        <a:srgbClr val="5A666A"/>
      </a:folHlink>
    </a:clrScheme>
    <a:fontScheme name="DSPRO Sola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DSPRO1 Coaching 1 – Forecasting solar power in Canton Lucerne</dc:title>
  <dc:subject>PptxGenJS Presentation</dc:subject>
  <dc:creator>Elias Schwegler, Flurin Yenigün</dc:creator>
  <cp:lastModifiedBy>Elias Schwegler, Flurin Yenigün</cp:lastModifiedBy>
  <cp:revision>1</cp:revision>
  <dcterms:created xsi:type="dcterms:W3CDTF">2026-10-08T07:57:11Z</dcterms:created>
  <dcterms:modified xsi:type="dcterms:W3CDTF">2026-10-08T07:57:11Z</dcterms:modified>
</cp:coreProperties>
</file>